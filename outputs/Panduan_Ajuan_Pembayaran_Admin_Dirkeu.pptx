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0766DA6-A274-4461-86CA-03D5D94A4BE1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5905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Panduan Penggunaan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Ajuan Pembayaran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257D2C-DEDF-4F2C-B73D-63F7AE4D9615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4762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>
                <a:solidFill>
                  <a:srgbClr val="D7F3EF"/>
                </a:solidFill>
              </a:defRPr>
            </a:pPr>
            <a:r>
              <a:rPr sz="1650" b="0">
                <a:solidFill>
                  <a:srgbClr val="D7F3EF"/>
                </a:solidFill>
              </a:rPr>
              <a:t>Untuk user Admin dan Dirkeu</a:t>
            </a:r>
          </a:p>
          <a:p>
            <a:pPr>
              <a:defRPr sz="1650" b="0">
                <a:solidFill>
                  <a:srgbClr val="D7F3EF"/>
                </a:solidFill>
              </a:defRPr>
            </a:pPr>
            <a:r>
              <a:rPr sz="1650" b="0">
                <a:solidFill>
                  <a:srgbClr val="D7F3EF"/>
                </a:solidFill>
              </a:rPr>
              <a:t>Versi workflow approval + pembayaran terbaru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DE4EBB2-C716-411D-849F-9426041AA28D}"/>
              </a:ext>
            </a:extLst>
          </p:cNvPr>
          <p:cNvSpPr>
            <a:spLocks noGrp="1"/>
          </p:cNvSpPr>
          <p:nvPr/>
        </p:nvSpPr>
        <p:spPr>
          <a:xfrm>
            <a:off x="7667625" y="990600"/>
            <a:ext cx="3429000" cy="219075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14335F-F574-4AD6-B2EF-C307F33194BE}"/>
              </a:ext>
            </a:extLst>
          </p:cNvPr>
          <p:cNvSpPr>
            <a:spLocks noGrp="1"/>
          </p:cNvSpPr>
          <p:nvPr/>
        </p:nvSpPr>
        <p:spPr>
          <a:xfrm>
            <a:off x="8001000" y="12954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4213D"/>
                </a:solidFill>
              </a:defRPr>
            </a:pPr>
            <a:r>
              <a:rPr sz="1650" b="1">
                <a:solidFill>
                  <a:srgbClr val="14213D"/>
                </a:solidFill>
              </a:rPr>
              <a:t>Ringkasan Alur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D19FF37-82E5-4DC5-A078-365830A4E605}"/>
              </a:ext>
            </a:extLst>
          </p:cNvPr>
          <p:cNvSpPr>
            <a:spLocks noGrp="1"/>
          </p:cNvSpPr>
          <p:nvPr/>
        </p:nvSpPr>
        <p:spPr>
          <a:xfrm>
            <a:off x="8020050" y="1819275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E456A9-3B35-4AD5-844C-A7DBDCF148E1}"/>
              </a:ext>
            </a:extLst>
          </p:cNvPr>
          <p:cNvSpPr>
            <a:spLocks noGrp="1"/>
          </p:cNvSpPr>
          <p:nvPr/>
        </p:nvSpPr>
        <p:spPr>
          <a:xfrm>
            <a:off x="8210550" y="1752600"/>
            <a:ext cx="2476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Admin input dan ajukan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7EDBF0D-03E6-4DF4-BDD2-BCC9433D7FDB}"/>
              </a:ext>
            </a:extLst>
          </p:cNvPr>
          <p:cNvSpPr>
            <a:spLocks noGrp="1"/>
          </p:cNvSpPr>
          <p:nvPr/>
        </p:nvSpPr>
        <p:spPr>
          <a:xfrm>
            <a:off x="8020050" y="2333625"/>
            <a:ext cx="95250" cy="95250"/>
          </a:xfrm>
          <a:prstGeom prst="ellipse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31BEFD-72DE-4403-B5ED-A524558F25D8}"/>
              </a:ext>
            </a:extLst>
          </p:cNvPr>
          <p:cNvSpPr>
            <a:spLocks noGrp="1"/>
          </p:cNvSpPr>
          <p:nvPr/>
        </p:nvSpPr>
        <p:spPr>
          <a:xfrm>
            <a:off x="8210550" y="2266950"/>
            <a:ext cx="2476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Dirkeu review dan setujui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66D2336-3184-4F5F-B36E-A2E21B9FEB79}"/>
              </a:ext>
            </a:extLst>
          </p:cNvPr>
          <p:cNvSpPr>
            <a:spLocks noGrp="1"/>
          </p:cNvSpPr>
          <p:nvPr/>
        </p:nvSpPr>
        <p:spPr>
          <a:xfrm>
            <a:off x="8020050" y="2847975"/>
            <a:ext cx="95250" cy="95250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87F4B5-B5F1-4485-AF43-3F8A4269F8A3}"/>
              </a:ext>
            </a:extLst>
          </p:cNvPr>
          <p:cNvSpPr>
            <a:spLocks noGrp="1"/>
          </p:cNvSpPr>
          <p:nvPr/>
        </p:nvSpPr>
        <p:spPr>
          <a:xfrm>
            <a:off x="8210550" y="2781300"/>
            <a:ext cx="2476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Dirkeu proses pembayaran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C4E4AFD-0C74-4CED-A23E-D4BD3FB3466B}"/>
              </a:ext>
            </a:extLst>
          </p:cNvPr>
          <p:cNvSpPr>
            <a:spLocks noGrp="1"/>
          </p:cNvSpPr>
          <p:nvPr/>
        </p:nvSpPr>
        <p:spPr>
          <a:xfrm>
            <a:off x="8020050" y="3362325"/>
            <a:ext cx="95250" cy="95250"/>
          </a:xfrm>
          <a:prstGeom prst="ellipse">
            <a:avLst/>
          </a:prstGeom>
          <a:solidFill>
            <a:srgbClr val="0891B2"/>
          </a:solidFill>
          <a:ln w="0">
            <a:solidFill>
              <a:srgbClr val="0891B2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35076C-9C55-4DF1-93EE-9261525000C2}"/>
              </a:ext>
            </a:extLst>
          </p:cNvPr>
          <p:cNvSpPr>
            <a:spLocks noGrp="1"/>
          </p:cNvSpPr>
          <p:nvPr/>
        </p:nvSpPr>
        <p:spPr>
          <a:xfrm>
            <a:off x="8210550" y="3295650"/>
            <a:ext cx="2476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Admin memantau dari dashboard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A1FFF7-8469-482D-A966-DC20D91594AB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D7F3EF"/>
                </a:solidFill>
              </a:defRPr>
            </a:pPr>
            <a:r>
              <a:rPr sz="975" b="1">
                <a:solidFill>
                  <a:srgbClr val="D7F3EF"/>
                </a:solidFill>
              </a:rPr>
              <a:t>Ajuan Pembayaran • Finance Control</a:t>
            </a:r>
          </a:p>
        </p:txBody>
      </p:sp>
    </p:spTree>
    <p:extLst>
      <p:ext uri="{BB962C8B-B14F-4D97-AF65-F5344CB8AC3E}">
        <p14:creationId xmlns:p14="http://schemas.microsoft.com/office/powerpoint/2010/main" val="150655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15573AB8-1DDD-4899-B3B5-F029614C3091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4213D"/>
                </a:solidFill>
              </a:defRPr>
            </a:pPr>
            <a:r>
              <a:rPr sz="2250" b="1">
                <a:solidFill>
                  <a:srgbClr val="14213D"/>
                </a:solidFill>
              </a:rPr>
              <a:t>1. Login dan Akun User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02777E-F58E-4B3E-A5CF-27D69EDC6D3C}"/>
              </a:ext>
            </a:extLst>
          </p:cNvPr>
          <p:cNvSpPr>
            <a:spLocks noGrp="1"/>
          </p:cNvSpPr>
          <p:nvPr/>
        </p:nvSpPr>
        <p:spPr>
          <a:xfrm>
            <a:off x="685800" y="971550"/>
            <a:ext cx="647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0708B"/>
                </a:solidFill>
              </a:defRPr>
            </a:pPr>
            <a:r>
              <a:rPr sz="1350">
                <a:solidFill>
                  <a:srgbClr val="60708B"/>
                </a:solidFill>
              </a:rPr>
              <a:t>Gunakan akun sesuai role agar menu yang tampil sesuai tugas masing-masing.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7C9CF27-3DB2-48AD-A53C-602D72467A2F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4953000" cy="2266950"/>
          </a:xfrm>
          <a:prstGeom prst="roundRect">
            <a:avLst>
              <a:gd name="adj" fmla="val 6723"/>
            </a:avLst>
          </a:prstGeom>
          <a:solidFill>
            <a:srgbClr val="FFFFFF"/>
          </a:solidFill>
          <a:ln w="9525">
            <a:solidFill>
              <a:srgbClr val="D7E1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79F829-0D74-4F28-B4B0-043016CFF746}"/>
              </a:ext>
            </a:extLst>
          </p:cNvPr>
          <p:cNvSpPr>
            <a:spLocks noGrp="1"/>
          </p:cNvSpPr>
          <p:nvPr/>
        </p:nvSpPr>
        <p:spPr>
          <a:xfrm>
            <a:off x="990600" y="18288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Akun Admin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A8ACDCD-ED35-4E5F-A093-48D935040261}"/>
              </a:ext>
            </a:extLst>
          </p:cNvPr>
          <p:cNvSpPr>
            <a:spLocks noGrp="1"/>
          </p:cNvSpPr>
          <p:nvPr/>
        </p:nvSpPr>
        <p:spPr>
          <a:xfrm>
            <a:off x="1009650" y="2352675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D6C230-A0F8-4D2B-99EB-9471318591A8}"/>
              </a:ext>
            </a:extLst>
          </p:cNvPr>
          <p:cNvSpPr>
            <a:spLocks noGrp="1"/>
          </p:cNvSpPr>
          <p:nvPr/>
        </p:nvSpPr>
        <p:spPr>
          <a:xfrm>
            <a:off x="1200150" y="2286000"/>
            <a:ext cx="3714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Username: finance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48D690B-27F9-4C50-B8CB-73299872E96B}"/>
              </a:ext>
            </a:extLst>
          </p:cNvPr>
          <p:cNvSpPr>
            <a:spLocks noGrp="1"/>
          </p:cNvSpPr>
          <p:nvPr/>
        </p:nvSpPr>
        <p:spPr>
          <a:xfrm>
            <a:off x="1009650" y="2771775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036A86-7ABB-4225-9B17-76E8692337F7}"/>
              </a:ext>
            </a:extLst>
          </p:cNvPr>
          <p:cNvSpPr>
            <a:spLocks noGrp="1"/>
          </p:cNvSpPr>
          <p:nvPr/>
        </p:nvSpPr>
        <p:spPr>
          <a:xfrm>
            <a:off x="1200150" y="2705100"/>
            <a:ext cx="3714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Password: keuangannf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2148A62-C133-43FC-985C-C403B87EBBA7}"/>
              </a:ext>
            </a:extLst>
          </p:cNvPr>
          <p:cNvSpPr>
            <a:spLocks noGrp="1"/>
          </p:cNvSpPr>
          <p:nvPr/>
        </p:nvSpPr>
        <p:spPr>
          <a:xfrm>
            <a:off x="1009650" y="3190875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ED7039-1F8E-4721-B49C-A31EF1D3AE3D}"/>
              </a:ext>
            </a:extLst>
          </p:cNvPr>
          <p:cNvSpPr>
            <a:spLocks noGrp="1"/>
          </p:cNvSpPr>
          <p:nvPr/>
        </p:nvSpPr>
        <p:spPr>
          <a:xfrm>
            <a:off x="1200150" y="3124200"/>
            <a:ext cx="3714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Akses: Dashboard, Input Ajuan, Import Sheet, Upload LPJ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A45438D-84F0-4419-B827-F96D3EE3B84A}"/>
              </a:ext>
            </a:extLst>
          </p:cNvPr>
          <p:cNvSpPr>
            <a:spLocks noGrp="1"/>
          </p:cNvSpPr>
          <p:nvPr/>
        </p:nvSpPr>
        <p:spPr>
          <a:xfrm>
            <a:off x="6096000" y="1524000"/>
            <a:ext cx="4953000" cy="2266950"/>
          </a:xfrm>
          <a:prstGeom prst="roundRect">
            <a:avLst>
              <a:gd name="adj" fmla="val 6723"/>
            </a:avLst>
          </a:prstGeom>
          <a:solidFill>
            <a:srgbClr val="FFFFFF"/>
          </a:solidFill>
          <a:ln w="9525">
            <a:solidFill>
              <a:srgbClr val="D7E1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51DD3C-4738-4AA2-BF81-0E7363E1E2EB}"/>
              </a:ext>
            </a:extLst>
          </p:cNvPr>
          <p:cNvSpPr>
            <a:spLocks noGrp="1"/>
          </p:cNvSpPr>
          <p:nvPr/>
        </p:nvSpPr>
        <p:spPr>
          <a:xfrm>
            <a:off x="6400800" y="18288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D4ED8"/>
                </a:solidFill>
              </a:defRPr>
            </a:pPr>
            <a:r>
              <a:rPr sz="1800" b="1">
                <a:solidFill>
                  <a:srgbClr val="1D4ED8"/>
                </a:solidFill>
              </a:rPr>
              <a:t>Akun Dirkeu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704D86B-31A8-4784-9A45-4707CF19F7C4}"/>
              </a:ext>
            </a:extLst>
          </p:cNvPr>
          <p:cNvSpPr>
            <a:spLocks noGrp="1"/>
          </p:cNvSpPr>
          <p:nvPr/>
        </p:nvSpPr>
        <p:spPr>
          <a:xfrm>
            <a:off x="6419850" y="2352675"/>
            <a:ext cx="95250" cy="95250"/>
          </a:xfrm>
          <a:prstGeom prst="ellipse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286E26-A21A-450D-858A-D7A41D935D40}"/>
              </a:ext>
            </a:extLst>
          </p:cNvPr>
          <p:cNvSpPr>
            <a:spLocks noGrp="1"/>
          </p:cNvSpPr>
          <p:nvPr/>
        </p:nvSpPr>
        <p:spPr>
          <a:xfrm>
            <a:off x="6610350" y="2286000"/>
            <a:ext cx="3714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Username: dirkeu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525A213-086E-4611-9360-B999B6770B8C}"/>
              </a:ext>
            </a:extLst>
          </p:cNvPr>
          <p:cNvSpPr>
            <a:spLocks noGrp="1"/>
          </p:cNvSpPr>
          <p:nvPr/>
        </p:nvSpPr>
        <p:spPr>
          <a:xfrm>
            <a:off x="6419850" y="2771775"/>
            <a:ext cx="95250" cy="95250"/>
          </a:xfrm>
          <a:prstGeom prst="ellipse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3C4B1C-BF4F-42E3-B904-5F1FF86B3A7D}"/>
              </a:ext>
            </a:extLst>
          </p:cNvPr>
          <p:cNvSpPr>
            <a:spLocks noGrp="1"/>
          </p:cNvSpPr>
          <p:nvPr/>
        </p:nvSpPr>
        <p:spPr>
          <a:xfrm>
            <a:off x="6610350" y="2705100"/>
            <a:ext cx="3714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Password: direkturkeuangan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2F3208D-E8BA-4448-A9F3-A8E8AEE46883}"/>
              </a:ext>
            </a:extLst>
          </p:cNvPr>
          <p:cNvSpPr>
            <a:spLocks noGrp="1"/>
          </p:cNvSpPr>
          <p:nvPr/>
        </p:nvSpPr>
        <p:spPr>
          <a:xfrm>
            <a:off x="6419850" y="3190875"/>
            <a:ext cx="95250" cy="95250"/>
          </a:xfrm>
          <a:prstGeom prst="ellipse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1A427-FBDF-48F0-91FB-40BE29390076}"/>
              </a:ext>
            </a:extLst>
          </p:cNvPr>
          <p:cNvSpPr>
            <a:spLocks noGrp="1"/>
          </p:cNvSpPr>
          <p:nvPr/>
        </p:nvSpPr>
        <p:spPr>
          <a:xfrm>
            <a:off x="6610350" y="3124200"/>
            <a:ext cx="3714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Akses: Review Dirkeu dan Bukti TF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AABBBAE-ECA3-4547-84D3-9303BFB6A203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10363200" cy="1562100"/>
          </a:xfrm>
          <a:prstGeom prst="roundRect">
            <a:avLst>
              <a:gd name="adj" fmla="val 9756"/>
            </a:avLst>
          </a:prstGeom>
          <a:solidFill>
            <a:srgbClr val="EAF6F4"/>
          </a:solidFill>
          <a:ln w="9525">
            <a:solidFill>
              <a:srgbClr val="B7E4D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9A06B1-22E9-421D-993A-1FA2CA91F6C0}"/>
              </a:ext>
            </a:extLst>
          </p:cNvPr>
          <p:cNvSpPr>
            <a:spLocks noGrp="1"/>
          </p:cNvSpPr>
          <p:nvPr/>
        </p:nvSpPr>
        <p:spPr>
          <a:xfrm>
            <a:off x="990600" y="44577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4213D"/>
                </a:solidFill>
              </a:defRPr>
            </a:pPr>
            <a:r>
              <a:rPr sz="1650" b="1">
                <a:solidFill>
                  <a:srgbClr val="14213D"/>
                </a:solidFill>
              </a:rPr>
              <a:t>Tips Login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FF56EEA-E792-4FD9-B51D-B826FBE4B6D7}"/>
              </a:ext>
            </a:extLst>
          </p:cNvPr>
          <p:cNvSpPr>
            <a:spLocks noGrp="1"/>
          </p:cNvSpPr>
          <p:nvPr/>
        </p:nvSpPr>
        <p:spPr>
          <a:xfrm>
            <a:off x="1009650" y="4943475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93C574-A690-4A16-8CED-47D060334B0A}"/>
              </a:ext>
            </a:extLst>
          </p:cNvPr>
          <p:cNvSpPr>
            <a:spLocks noGrp="1"/>
          </p:cNvSpPr>
          <p:nvPr/>
        </p:nvSpPr>
        <p:spPr>
          <a:xfrm>
            <a:off x="1200150" y="4876800"/>
            <a:ext cx="876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Buka URL aplikasi lalu masukkan username dan password sesuai role.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68C4B35-B388-42FF-B67A-8A7C03471A05}"/>
              </a:ext>
            </a:extLst>
          </p:cNvPr>
          <p:cNvSpPr>
            <a:spLocks noGrp="1"/>
          </p:cNvSpPr>
          <p:nvPr/>
        </p:nvSpPr>
        <p:spPr>
          <a:xfrm>
            <a:off x="1009650" y="5343525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1527EAC-6CE4-4A53-8DCE-1C7D5D66A787}"/>
              </a:ext>
            </a:extLst>
          </p:cNvPr>
          <p:cNvSpPr>
            <a:spLocks noGrp="1"/>
          </p:cNvSpPr>
          <p:nvPr/>
        </p:nvSpPr>
        <p:spPr>
          <a:xfrm>
            <a:off x="1200150" y="5276850"/>
            <a:ext cx="876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Jika ingin tetap login, centang opsi ingat login selama 30 hari.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5813924-4BE3-40D6-8432-E161EEE3E389}"/>
              </a:ext>
            </a:extLst>
          </p:cNvPr>
          <p:cNvSpPr>
            <a:spLocks noGrp="1"/>
          </p:cNvSpPr>
          <p:nvPr/>
        </p:nvSpPr>
        <p:spPr>
          <a:xfrm>
            <a:off x="1009650" y="5743575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9E9C016-4FD8-4E2A-A05D-35373236A94E}"/>
              </a:ext>
            </a:extLst>
          </p:cNvPr>
          <p:cNvSpPr>
            <a:spLocks noGrp="1"/>
          </p:cNvSpPr>
          <p:nvPr/>
        </p:nvSpPr>
        <p:spPr>
          <a:xfrm>
            <a:off x="1200150" y="5676900"/>
            <a:ext cx="8763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Jika menu tidak sesuai role, logout lalu login ulang memakai akun yang benar.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25A04D6-D92B-4F3D-84A3-16A42018B450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Panduan Ajuan Pembayaran • Slide 2</a:t>
            </a:r>
          </a:p>
        </p:txBody>
      </p:sp>
    </p:spTree>
    <p:extLst>
      <p:ext uri="{BB962C8B-B14F-4D97-AF65-F5344CB8AC3E}">
        <p14:creationId xmlns:p14="http://schemas.microsoft.com/office/powerpoint/2010/main" val="1053242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744B35BF-EE01-4426-B407-B57D204F50CC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495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4213D"/>
                </a:solidFill>
              </a:defRPr>
            </a:pPr>
            <a:r>
              <a:rPr sz="2250" b="1">
                <a:solidFill>
                  <a:srgbClr val="14213D"/>
                </a:solidFill>
              </a:rPr>
              <a:t>2. Pembagian Tugas per Role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C941D2-5141-4442-B28E-A65D1C8BCF5A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4762500" cy="409575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7E1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FE9649-7C29-4175-AE0B-54911DC7AC58}"/>
              </a:ext>
            </a:extLst>
          </p:cNvPr>
          <p:cNvSpPr>
            <a:spLocks noGrp="1"/>
          </p:cNvSpPr>
          <p:nvPr/>
        </p:nvSpPr>
        <p:spPr>
          <a:xfrm>
            <a:off x="990600" y="17335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Admin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EF21E8E-9FE1-408B-AF3C-ECA87D456DFE}"/>
              </a:ext>
            </a:extLst>
          </p:cNvPr>
          <p:cNvSpPr>
            <a:spLocks noGrp="1"/>
          </p:cNvSpPr>
          <p:nvPr/>
        </p:nvSpPr>
        <p:spPr>
          <a:xfrm>
            <a:off x="1009650" y="2314575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840267-EE95-4CA3-B6E3-4F2B31346A0D}"/>
              </a:ext>
            </a:extLst>
          </p:cNvPr>
          <p:cNvSpPr>
            <a:spLocks noGrp="1"/>
          </p:cNvSpPr>
          <p:nvPr/>
        </p:nvSpPr>
        <p:spPr>
          <a:xfrm>
            <a:off x="1200150" y="2247900"/>
            <a:ext cx="3714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Input ajuan baru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240B197-5F09-4219-8792-6CD14DB0A2DE}"/>
              </a:ext>
            </a:extLst>
          </p:cNvPr>
          <p:cNvSpPr>
            <a:spLocks noGrp="1"/>
          </p:cNvSpPr>
          <p:nvPr/>
        </p:nvSpPr>
        <p:spPr>
          <a:xfrm>
            <a:off x="1009650" y="2828925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CEE13E-1970-43A0-B45E-5E9D125188D9}"/>
              </a:ext>
            </a:extLst>
          </p:cNvPr>
          <p:cNvSpPr>
            <a:spLocks noGrp="1"/>
          </p:cNvSpPr>
          <p:nvPr/>
        </p:nvSpPr>
        <p:spPr>
          <a:xfrm>
            <a:off x="1200150" y="276225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Edit ajuan jika ada revisi / koreksi data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1A44160-236E-4464-B055-B9C5B34B407F}"/>
              </a:ext>
            </a:extLst>
          </p:cNvPr>
          <p:cNvSpPr>
            <a:spLocks noGrp="1"/>
          </p:cNvSpPr>
          <p:nvPr/>
        </p:nvSpPr>
        <p:spPr>
          <a:xfrm>
            <a:off x="1009650" y="3343275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DB72D-EE99-40A1-BC98-0B1033555588}"/>
              </a:ext>
            </a:extLst>
          </p:cNvPr>
          <p:cNvSpPr>
            <a:spLocks noGrp="1"/>
          </p:cNvSpPr>
          <p:nvPr/>
        </p:nvSpPr>
        <p:spPr>
          <a:xfrm>
            <a:off x="1200150" y="3276600"/>
            <a:ext cx="3714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Ajukan ke Dirkeu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49F953C-3CD7-40A3-A650-AE6D8FD11E0B}"/>
              </a:ext>
            </a:extLst>
          </p:cNvPr>
          <p:cNvSpPr>
            <a:spLocks noGrp="1"/>
          </p:cNvSpPr>
          <p:nvPr/>
        </p:nvSpPr>
        <p:spPr>
          <a:xfrm>
            <a:off x="1009650" y="3857625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2D7AF8-1DE3-428C-BA22-EF6895567AE6}"/>
              </a:ext>
            </a:extLst>
          </p:cNvPr>
          <p:cNvSpPr>
            <a:spLocks noGrp="1"/>
          </p:cNvSpPr>
          <p:nvPr/>
        </p:nvSpPr>
        <p:spPr>
          <a:xfrm>
            <a:off x="1200150" y="379095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Pantau status approval dan pembayaran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E7817E2-653C-42DC-A3D6-1B886AF77CA6}"/>
              </a:ext>
            </a:extLst>
          </p:cNvPr>
          <p:cNvSpPr>
            <a:spLocks noGrp="1"/>
          </p:cNvSpPr>
          <p:nvPr/>
        </p:nvSpPr>
        <p:spPr>
          <a:xfrm>
            <a:off x="1009650" y="4371975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7ED87A-0464-455E-890B-9FC755F1C226}"/>
              </a:ext>
            </a:extLst>
          </p:cNvPr>
          <p:cNvSpPr>
            <a:spLocks noGrp="1"/>
          </p:cNvSpPr>
          <p:nvPr/>
        </p:nvSpPr>
        <p:spPr>
          <a:xfrm>
            <a:off x="1200150" y="430530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Upload LPJ dan isi realisasi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49C1D77-610C-42F4-8D5A-2A65F57623D8}"/>
              </a:ext>
            </a:extLst>
          </p:cNvPr>
          <p:cNvSpPr>
            <a:spLocks noGrp="1"/>
          </p:cNvSpPr>
          <p:nvPr/>
        </p:nvSpPr>
        <p:spPr>
          <a:xfrm>
            <a:off x="5791200" y="1428750"/>
            <a:ext cx="5257800" cy="409575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7E1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F3E732-2F70-41E9-B278-A165AE192D11}"/>
              </a:ext>
            </a:extLst>
          </p:cNvPr>
          <p:cNvSpPr>
            <a:spLocks noGrp="1"/>
          </p:cNvSpPr>
          <p:nvPr/>
        </p:nvSpPr>
        <p:spPr>
          <a:xfrm>
            <a:off x="6096000" y="17335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1D4ED8"/>
                </a:solidFill>
              </a:defRPr>
            </a:pPr>
            <a:r>
              <a:rPr sz="2100" b="1">
                <a:solidFill>
                  <a:srgbClr val="1D4ED8"/>
                </a:solidFill>
              </a:rPr>
              <a:t>Dirkeu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05681EC-7D9B-4C4D-A998-DC78B276D68D}"/>
              </a:ext>
            </a:extLst>
          </p:cNvPr>
          <p:cNvSpPr>
            <a:spLocks noGrp="1"/>
          </p:cNvSpPr>
          <p:nvPr/>
        </p:nvSpPr>
        <p:spPr>
          <a:xfrm>
            <a:off x="6115050" y="2314575"/>
            <a:ext cx="95250" cy="95250"/>
          </a:xfrm>
          <a:prstGeom prst="ellipse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D025D2-FB85-4731-A5AC-852E7FB25529}"/>
              </a:ext>
            </a:extLst>
          </p:cNvPr>
          <p:cNvSpPr>
            <a:spLocks noGrp="1"/>
          </p:cNvSpPr>
          <p:nvPr/>
        </p:nvSpPr>
        <p:spPr>
          <a:xfrm>
            <a:off x="6305550" y="2247900"/>
            <a:ext cx="4095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Melihat daftar ajuan yang menunggu review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A101C1A-159D-45B5-95B9-1A7240B293A1}"/>
              </a:ext>
            </a:extLst>
          </p:cNvPr>
          <p:cNvSpPr>
            <a:spLocks noGrp="1"/>
          </p:cNvSpPr>
          <p:nvPr/>
        </p:nvSpPr>
        <p:spPr>
          <a:xfrm>
            <a:off x="6115050" y="2828925"/>
            <a:ext cx="95250" cy="95250"/>
          </a:xfrm>
          <a:prstGeom prst="ellipse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229992-05F6-4483-887B-37CCEB077778}"/>
              </a:ext>
            </a:extLst>
          </p:cNvPr>
          <p:cNvSpPr>
            <a:spLocks noGrp="1"/>
          </p:cNvSpPr>
          <p:nvPr/>
        </p:nvSpPr>
        <p:spPr>
          <a:xfrm>
            <a:off x="6305550" y="2762250"/>
            <a:ext cx="4095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Setujui, tolak, atau minta revisi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12202F7-4C45-402C-BB78-7B663B9165A4}"/>
              </a:ext>
            </a:extLst>
          </p:cNvPr>
          <p:cNvSpPr>
            <a:spLocks noGrp="1"/>
          </p:cNvSpPr>
          <p:nvPr/>
        </p:nvSpPr>
        <p:spPr>
          <a:xfrm>
            <a:off x="6115050" y="3343275"/>
            <a:ext cx="95250" cy="95250"/>
          </a:xfrm>
          <a:prstGeom prst="ellipse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408116C-B393-484B-8922-3BA34D46A9E1}"/>
              </a:ext>
            </a:extLst>
          </p:cNvPr>
          <p:cNvSpPr>
            <a:spLocks noGrp="1"/>
          </p:cNvSpPr>
          <p:nvPr/>
        </p:nvSpPr>
        <p:spPr>
          <a:xfrm>
            <a:off x="6305550" y="3276600"/>
            <a:ext cx="4095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Memberi catatan review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8B03A6D-8426-4167-BEE1-C21CCB8A3165}"/>
              </a:ext>
            </a:extLst>
          </p:cNvPr>
          <p:cNvSpPr>
            <a:spLocks noGrp="1"/>
          </p:cNvSpPr>
          <p:nvPr/>
        </p:nvSpPr>
        <p:spPr>
          <a:xfrm>
            <a:off x="6115050" y="3857625"/>
            <a:ext cx="95250" cy="95250"/>
          </a:xfrm>
          <a:prstGeom prst="ellipse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ED10FE-657E-4D93-9A0D-C013CE1F6626}"/>
              </a:ext>
            </a:extLst>
          </p:cNvPr>
          <p:cNvSpPr>
            <a:spLocks noGrp="1"/>
          </p:cNvSpPr>
          <p:nvPr/>
        </p:nvSpPr>
        <p:spPr>
          <a:xfrm>
            <a:off x="6305550" y="3790950"/>
            <a:ext cx="4095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Setelah disetujui, memproses pembayaran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2B7FEAA-AE07-4B88-BCC1-1A955CFAA899}"/>
              </a:ext>
            </a:extLst>
          </p:cNvPr>
          <p:cNvSpPr>
            <a:spLocks noGrp="1"/>
          </p:cNvSpPr>
          <p:nvPr/>
        </p:nvSpPr>
        <p:spPr>
          <a:xfrm>
            <a:off x="6115050" y="4371975"/>
            <a:ext cx="95250" cy="95250"/>
          </a:xfrm>
          <a:prstGeom prst="ellipse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B9AF20-E3AB-4FD3-A4A3-72E5EF7B9018}"/>
              </a:ext>
            </a:extLst>
          </p:cNvPr>
          <p:cNvSpPr>
            <a:spLocks noGrp="1"/>
          </p:cNvSpPr>
          <p:nvPr/>
        </p:nvSpPr>
        <p:spPr>
          <a:xfrm>
            <a:off x="6305550" y="4305300"/>
            <a:ext cx="4095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Upload bukti TF atau tandai Dibayar Tanpa Bukti TF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B4ECFC2-1452-47B8-8C81-57038248160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Panduan Ajuan Pembayaran • Slide 3</a:t>
            </a:r>
          </a:p>
        </p:txBody>
      </p:sp>
    </p:spTree>
    <p:extLst>
      <p:ext uri="{BB962C8B-B14F-4D97-AF65-F5344CB8AC3E}">
        <p14:creationId xmlns:p14="http://schemas.microsoft.com/office/powerpoint/2010/main" val="962360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8BDDBD45-C6B0-4A5F-BE68-29BAFA3054B2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400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4213D"/>
                </a:solidFill>
              </a:defRPr>
            </a:pPr>
            <a:r>
              <a:rPr sz="2250" b="1">
                <a:solidFill>
                  <a:srgbClr val="14213D"/>
                </a:solidFill>
              </a:rPr>
              <a:t>3. Alur Kerja Admin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831623-EA1B-4A82-B77E-179FB42E7281}"/>
              </a:ext>
            </a:extLst>
          </p:cNvPr>
          <p:cNvSpPr>
            <a:spLocks noGrp="1"/>
          </p:cNvSpPr>
          <p:nvPr/>
        </p:nvSpPr>
        <p:spPr>
          <a:xfrm>
            <a:off x="685800" y="971550"/>
            <a:ext cx="590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0708B"/>
                </a:solidFill>
              </a:defRPr>
            </a:pPr>
            <a:r>
              <a:rPr sz="1350">
                <a:solidFill>
                  <a:srgbClr val="60708B"/>
                </a:solidFill>
              </a:rPr>
              <a:t>Gunakan alur ini agar ajuan tidak tertahan di tengah proses.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B6AE693-F965-4999-A0FF-086C3D70DF5F}"/>
              </a:ext>
            </a:extLst>
          </p:cNvPr>
          <p:cNvSpPr>
            <a:spLocks noGrp="1"/>
          </p:cNvSpPr>
          <p:nvPr/>
        </p:nvSpPr>
        <p:spPr>
          <a:xfrm>
            <a:off x="857250" y="2038350"/>
            <a:ext cx="1905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E1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2C07A73-C284-4F48-A304-1404198F999E}"/>
              </a:ext>
            </a:extLst>
          </p:cNvPr>
          <p:cNvSpPr>
            <a:spLocks noGrp="1"/>
          </p:cNvSpPr>
          <p:nvPr/>
        </p:nvSpPr>
        <p:spPr>
          <a:xfrm>
            <a:off x="1600200" y="1676400"/>
            <a:ext cx="419100" cy="41910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EE31E0-06BA-4F6D-B3DF-5D732678B48C}"/>
              </a:ext>
            </a:extLst>
          </p:cNvPr>
          <p:cNvSpPr>
            <a:spLocks noGrp="1"/>
          </p:cNvSpPr>
          <p:nvPr/>
        </p:nvSpPr>
        <p:spPr>
          <a:xfrm>
            <a:off x="1714500" y="1733550"/>
            <a:ext cx="209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88FC90-10C2-485F-8DCB-B9D5712D93E9}"/>
              </a:ext>
            </a:extLst>
          </p:cNvPr>
          <p:cNvSpPr>
            <a:spLocks noGrp="1"/>
          </p:cNvSpPr>
          <p:nvPr/>
        </p:nvSpPr>
        <p:spPr>
          <a:xfrm>
            <a:off x="1047750" y="2362200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4213D"/>
                </a:solidFill>
              </a:defRPr>
            </a:pPr>
            <a:r>
              <a:rPr sz="1650" b="1">
                <a:solidFill>
                  <a:srgbClr val="14213D"/>
                </a:solidFill>
              </a:rPr>
              <a:t>Input Ajuan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2AFB64-4295-4535-A920-7777D67FB8CF}"/>
              </a:ext>
            </a:extLst>
          </p:cNvPr>
          <p:cNvSpPr>
            <a:spLocks noGrp="1"/>
          </p:cNvSpPr>
          <p:nvPr/>
        </p:nvSpPr>
        <p:spPr>
          <a:xfrm>
            <a:off x="1047750" y="2990850"/>
            <a:ext cx="1524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Isi data ajuan, nominal, memo, dan status LPJ.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6305B8E-AED4-4478-9377-09AA6F80D588}"/>
              </a:ext>
            </a:extLst>
          </p:cNvPr>
          <p:cNvSpPr>
            <a:spLocks noGrp="1"/>
          </p:cNvSpPr>
          <p:nvPr/>
        </p:nvSpPr>
        <p:spPr>
          <a:xfrm>
            <a:off x="3143250" y="2038350"/>
            <a:ext cx="1905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E1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84C8316-E122-4375-A70A-9F1C1C620720}"/>
              </a:ext>
            </a:extLst>
          </p:cNvPr>
          <p:cNvSpPr>
            <a:spLocks noGrp="1"/>
          </p:cNvSpPr>
          <p:nvPr/>
        </p:nvSpPr>
        <p:spPr>
          <a:xfrm>
            <a:off x="3886200" y="1676400"/>
            <a:ext cx="419100" cy="41910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2CC649-7E5F-4E1E-B290-CD8635A568AC}"/>
              </a:ext>
            </a:extLst>
          </p:cNvPr>
          <p:cNvSpPr>
            <a:spLocks noGrp="1"/>
          </p:cNvSpPr>
          <p:nvPr/>
        </p:nvSpPr>
        <p:spPr>
          <a:xfrm>
            <a:off x="4000500" y="1733550"/>
            <a:ext cx="209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C7639A-FD46-48FE-B80C-4653B2C12828}"/>
              </a:ext>
            </a:extLst>
          </p:cNvPr>
          <p:cNvSpPr>
            <a:spLocks noGrp="1"/>
          </p:cNvSpPr>
          <p:nvPr/>
        </p:nvSpPr>
        <p:spPr>
          <a:xfrm>
            <a:off x="3333750" y="2362200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4213D"/>
                </a:solidFill>
              </a:defRPr>
            </a:pPr>
            <a:r>
              <a:rPr sz="1650" b="1">
                <a:solidFill>
                  <a:srgbClr val="14213D"/>
                </a:solidFill>
              </a:rPr>
              <a:t>Cek Ulang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DCD443-DED0-450C-91B2-EAFFD81CB824}"/>
              </a:ext>
            </a:extLst>
          </p:cNvPr>
          <p:cNvSpPr>
            <a:spLocks noGrp="1"/>
          </p:cNvSpPr>
          <p:nvPr/>
        </p:nvSpPr>
        <p:spPr>
          <a:xfrm>
            <a:off x="3333750" y="2990850"/>
            <a:ext cx="1524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Pastikan nama pengaju, rekening, divisi, dan nominal sudah benar.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D233864-0B84-4311-9723-A5B427331043}"/>
              </a:ext>
            </a:extLst>
          </p:cNvPr>
          <p:cNvSpPr>
            <a:spLocks noGrp="1"/>
          </p:cNvSpPr>
          <p:nvPr/>
        </p:nvSpPr>
        <p:spPr>
          <a:xfrm>
            <a:off x="5429250" y="2038350"/>
            <a:ext cx="1905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E1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B170A7F-E9CA-40EE-90DD-71AB95CB4AD0}"/>
              </a:ext>
            </a:extLst>
          </p:cNvPr>
          <p:cNvSpPr>
            <a:spLocks noGrp="1"/>
          </p:cNvSpPr>
          <p:nvPr/>
        </p:nvSpPr>
        <p:spPr>
          <a:xfrm>
            <a:off x="6172200" y="1676400"/>
            <a:ext cx="419100" cy="41910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F2A99C-8AB5-4B58-B39C-116129B03EFD}"/>
              </a:ext>
            </a:extLst>
          </p:cNvPr>
          <p:cNvSpPr>
            <a:spLocks noGrp="1"/>
          </p:cNvSpPr>
          <p:nvPr/>
        </p:nvSpPr>
        <p:spPr>
          <a:xfrm>
            <a:off x="6286500" y="1733550"/>
            <a:ext cx="209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FE02B5-21F7-4F7D-B7A5-AFCB9AF963A6}"/>
              </a:ext>
            </a:extLst>
          </p:cNvPr>
          <p:cNvSpPr>
            <a:spLocks noGrp="1"/>
          </p:cNvSpPr>
          <p:nvPr/>
        </p:nvSpPr>
        <p:spPr>
          <a:xfrm>
            <a:off x="5619750" y="2362200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4213D"/>
                </a:solidFill>
              </a:defRPr>
            </a:pPr>
            <a:r>
              <a:rPr sz="1650" b="1">
                <a:solidFill>
                  <a:srgbClr val="14213D"/>
                </a:solidFill>
              </a:rPr>
              <a:t>Ajukan ke Dirkeu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779FF9-4C02-4BD5-B0C6-C2506C0F4967}"/>
              </a:ext>
            </a:extLst>
          </p:cNvPr>
          <p:cNvSpPr>
            <a:spLocks noGrp="1"/>
          </p:cNvSpPr>
          <p:nvPr/>
        </p:nvSpPr>
        <p:spPr>
          <a:xfrm>
            <a:off x="5619750" y="2990850"/>
            <a:ext cx="1524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Klik ajukan ke Dirkeu dari halaman edit / dashboard.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1C5421E-BB19-4214-9066-DFFD78C31B88}"/>
              </a:ext>
            </a:extLst>
          </p:cNvPr>
          <p:cNvSpPr>
            <a:spLocks noGrp="1"/>
          </p:cNvSpPr>
          <p:nvPr/>
        </p:nvSpPr>
        <p:spPr>
          <a:xfrm>
            <a:off x="7715250" y="2038350"/>
            <a:ext cx="1905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E1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9DEF441-A296-43FE-B450-1AD9933EEAEE}"/>
              </a:ext>
            </a:extLst>
          </p:cNvPr>
          <p:cNvSpPr>
            <a:spLocks noGrp="1"/>
          </p:cNvSpPr>
          <p:nvPr/>
        </p:nvSpPr>
        <p:spPr>
          <a:xfrm>
            <a:off x="8458200" y="1676400"/>
            <a:ext cx="419100" cy="41910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549C39A-80FF-45C8-8C6A-33E9DA1FD38D}"/>
              </a:ext>
            </a:extLst>
          </p:cNvPr>
          <p:cNvSpPr>
            <a:spLocks noGrp="1"/>
          </p:cNvSpPr>
          <p:nvPr/>
        </p:nvSpPr>
        <p:spPr>
          <a:xfrm>
            <a:off x="8572500" y="1733550"/>
            <a:ext cx="209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9491D13-C1B8-40A9-B061-4C253C975899}"/>
              </a:ext>
            </a:extLst>
          </p:cNvPr>
          <p:cNvSpPr>
            <a:spLocks noGrp="1"/>
          </p:cNvSpPr>
          <p:nvPr/>
        </p:nvSpPr>
        <p:spPr>
          <a:xfrm>
            <a:off x="7905750" y="2362200"/>
            <a:ext cx="152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14213D"/>
                </a:solidFill>
              </a:defRPr>
            </a:pPr>
            <a:r>
              <a:rPr sz="1650" b="1">
                <a:solidFill>
                  <a:srgbClr val="14213D"/>
                </a:solidFill>
              </a:rPr>
              <a:t>Pantau Hasil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7F1D884-4F99-47D2-909B-2D70536FB10F}"/>
              </a:ext>
            </a:extLst>
          </p:cNvPr>
          <p:cNvSpPr>
            <a:spLocks noGrp="1"/>
          </p:cNvSpPr>
          <p:nvPr/>
        </p:nvSpPr>
        <p:spPr>
          <a:xfrm>
            <a:off x="7905750" y="2990850"/>
            <a:ext cx="1524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Lihat apakah disetujui, ditolak, atau perlu revisi.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AB0891E-BE54-43DA-BF25-D2B55041607D}"/>
              </a:ext>
            </a:extLst>
          </p:cNvPr>
          <p:cNvSpPr>
            <a:spLocks noGrp="1"/>
          </p:cNvSpPr>
          <p:nvPr/>
        </p:nvSpPr>
        <p:spPr>
          <a:xfrm>
            <a:off x="685800" y="4819650"/>
            <a:ext cx="10363200" cy="914400"/>
          </a:xfrm>
          <a:prstGeom prst="roundRect">
            <a:avLst>
              <a:gd name="adj" fmla="val 16667"/>
            </a:avLst>
          </a:prstGeom>
          <a:solidFill>
            <a:srgbClr val="FFF7E8"/>
          </a:solidFill>
          <a:ln w="9525">
            <a:solidFill>
              <a:srgbClr val="FDE4A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EDE86B-D802-4B1A-89B3-F505939CCE21}"/>
              </a:ext>
            </a:extLst>
          </p:cNvPr>
          <p:cNvSpPr>
            <a:spLocks noGrp="1"/>
          </p:cNvSpPr>
          <p:nvPr/>
        </p:nvSpPr>
        <p:spPr>
          <a:xfrm>
            <a:off x="990600" y="5143500"/>
            <a:ext cx="933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9A6700"/>
                </a:solidFill>
              </a:defRPr>
            </a:pPr>
            <a:r>
              <a:rPr sz="1575" b="1">
                <a:solidFill>
                  <a:srgbClr val="9A6700"/>
                </a:solidFill>
              </a:rPr>
              <a:t>Catatan penting: jika Dirkeu minta revisi, Admin bisa edit ajuan lalu ajukan ulang tanpa membuat data baru.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684DB18-F6F8-4313-BB0D-F11D0A664C8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Panduan Ajuan Pembayaran • Slide 4</a:t>
            </a:r>
          </a:p>
        </p:txBody>
      </p:sp>
    </p:spTree>
    <p:extLst>
      <p:ext uri="{BB962C8B-B14F-4D97-AF65-F5344CB8AC3E}">
        <p14:creationId xmlns:p14="http://schemas.microsoft.com/office/powerpoint/2010/main" val="209809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709D3C0A-6E52-4EE4-84C9-273C540CE1D6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447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4213D"/>
                </a:solidFill>
              </a:defRPr>
            </a:pPr>
            <a:r>
              <a:rPr sz="2250" b="1">
                <a:solidFill>
                  <a:srgbClr val="14213D"/>
                </a:solidFill>
              </a:rPr>
              <a:t>4. Langkah Praktis Admin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117E9DB-8E1B-49CE-A38A-FBE402F6F640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5048250" cy="447675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7E1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8F82E6-A5B0-463E-AC41-CC21AA45E3E4}"/>
              </a:ext>
            </a:extLst>
          </p:cNvPr>
          <p:cNvSpPr>
            <a:spLocks noGrp="1"/>
          </p:cNvSpPr>
          <p:nvPr/>
        </p:nvSpPr>
        <p:spPr>
          <a:xfrm>
            <a:off x="990600" y="17526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Saat membuat ajuan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B2FCAFC-8187-46AD-9154-09FD3ADC668F}"/>
              </a:ext>
            </a:extLst>
          </p:cNvPr>
          <p:cNvSpPr>
            <a:spLocks noGrp="1"/>
          </p:cNvSpPr>
          <p:nvPr/>
        </p:nvSpPr>
        <p:spPr>
          <a:xfrm>
            <a:off x="1009650" y="2314575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E6FC64-4BDD-49DA-98B4-6B092B4CE138}"/>
              </a:ext>
            </a:extLst>
          </p:cNvPr>
          <p:cNvSpPr>
            <a:spLocks noGrp="1"/>
          </p:cNvSpPr>
          <p:nvPr/>
        </p:nvSpPr>
        <p:spPr>
          <a:xfrm>
            <a:off x="1200150" y="224790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Pisahkan Nama Pengaju dan Atas Nama Rekening.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820FDCC-AFCE-4126-B7E2-AE20D5E0A94E}"/>
              </a:ext>
            </a:extLst>
          </p:cNvPr>
          <p:cNvSpPr>
            <a:spLocks noGrp="1"/>
          </p:cNvSpPr>
          <p:nvPr/>
        </p:nvSpPr>
        <p:spPr>
          <a:xfrm>
            <a:off x="1009650" y="2828925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392890-B423-4FE4-9676-3229225CCD54}"/>
              </a:ext>
            </a:extLst>
          </p:cNvPr>
          <p:cNvSpPr>
            <a:spLocks noGrp="1"/>
          </p:cNvSpPr>
          <p:nvPr/>
        </p:nvSpPr>
        <p:spPr>
          <a:xfrm>
            <a:off x="1200150" y="276225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Isi nominal dengan benar, format rupiah akan otomatis dirapikan.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81CD58D-13A7-4CB2-BE18-478EFA431991}"/>
              </a:ext>
            </a:extLst>
          </p:cNvPr>
          <p:cNvSpPr>
            <a:spLocks noGrp="1"/>
          </p:cNvSpPr>
          <p:nvPr/>
        </p:nvSpPr>
        <p:spPr>
          <a:xfrm>
            <a:off x="1009650" y="3343275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9FCCEA-EA3E-43A2-90B4-D7C4E4C32E98}"/>
              </a:ext>
            </a:extLst>
          </p:cNvPr>
          <p:cNvSpPr>
            <a:spLocks noGrp="1"/>
          </p:cNvSpPr>
          <p:nvPr/>
        </p:nvSpPr>
        <p:spPr>
          <a:xfrm>
            <a:off x="1200150" y="3276600"/>
            <a:ext cx="3714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Upload memo bisa lebih dari satu file jika memo terdiri dari beberapa halaman.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1B10CF9-E42E-4CD3-ACF9-2A05F4DC687F}"/>
              </a:ext>
            </a:extLst>
          </p:cNvPr>
          <p:cNvSpPr>
            <a:spLocks noGrp="1"/>
          </p:cNvSpPr>
          <p:nvPr/>
        </p:nvSpPr>
        <p:spPr>
          <a:xfrm>
            <a:off x="1009650" y="3857625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824E73-83AA-446C-A4A2-3C52299390BE}"/>
              </a:ext>
            </a:extLst>
          </p:cNvPr>
          <p:cNvSpPr>
            <a:spLocks noGrp="1"/>
          </p:cNvSpPr>
          <p:nvPr/>
        </p:nvSpPr>
        <p:spPr>
          <a:xfrm>
            <a:off x="1200150" y="379095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Simpan dulu, lalu ajukan ke Dirkeu setelah semua data valid.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7D1B5CD-0518-4300-A02A-D254A72C8DD3}"/>
              </a:ext>
            </a:extLst>
          </p:cNvPr>
          <p:cNvSpPr>
            <a:spLocks noGrp="1"/>
          </p:cNvSpPr>
          <p:nvPr/>
        </p:nvSpPr>
        <p:spPr>
          <a:xfrm>
            <a:off x="6096000" y="1457325"/>
            <a:ext cx="4953000" cy="447675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7E1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1F800A-FB07-4596-854B-46FD4AAAEE7A}"/>
              </a:ext>
            </a:extLst>
          </p:cNvPr>
          <p:cNvSpPr>
            <a:spLocks noGrp="1"/>
          </p:cNvSpPr>
          <p:nvPr/>
        </p:nvSpPr>
        <p:spPr>
          <a:xfrm>
            <a:off x="6400799" y="1752599"/>
            <a:ext cx="36099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D4ED8"/>
                </a:solidFill>
              </a:defRPr>
            </a:pPr>
            <a:r>
              <a:rPr sz="1800" b="1" dirty="0" err="1">
                <a:solidFill>
                  <a:srgbClr val="1D4ED8"/>
                </a:solidFill>
              </a:rPr>
              <a:t>Saat</a:t>
            </a:r>
            <a:r>
              <a:rPr sz="1800" b="1" dirty="0">
                <a:solidFill>
                  <a:srgbClr val="1D4ED8"/>
                </a:solidFill>
              </a:rPr>
              <a:t> </a:t>
            </a:r>
            <a:r>
              <a:rPr sz="1800" b="1" dirty="0" err="1">
                <a:solidFill>
                  <a:srgbClr val="1D4ED8"/>
                </a:solidFill>
              </a:rPr>
              <a:t>memantau</a:t>
            </a:r>
            <a:r>
              <a:rPr sz="1800" b="1" dirty="0">
                <a:solidFill>
                  <a:srgbClr val="1D4ED8"/>
                </a:solidFill>
              </a:rPr>
              <a:t> dashboard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95C16E2-90AA-4C0E-908D-9365324EBE38}"/>
              </a:ext>
            </a:extLst>
          </p:cNvPr>
          <p:cNvSpPr>
            <a:spLocks noGrp="1"/>
          </p:cNvSpPr>
          <p:nvPr/>
        </p:nvSpPr>
        <p:spPr>
          <a:xfrm>
            <a:off x="6419850" y="2409825"/>
            <a:ext cx="95250" cy="95250"/>
          </a:xfrm>
          <a:prstGeom prst="ellipse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BB4449-E6AC-4404-A80E-16CE6F008673}"/>
              </a:ext>
            </a:extLst>
          </p:cNvPr>
          <p:cNvSpPr>
            <a:spLocks noGrp="1"/>
          </p:cNvSpPr>
          <p:nvPr/>
        </p:nvSpPr>
        <p:spPr>
          <a:xfrm>
            <a:off x="6610350" y="2247900"/>
            <a:ext cx="3524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Gunakan search, filter, dan sort untuk mencari ajuan tertentu.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C0DFEE6-B289-4338-B9E0-CC502637C138}"/>
              </a:ext>
            </a:extLst>
          </p:cNvPr>
          <p:cNvSpPr>
            <a:spLocks noGrp="1"/>
          </p:cNvSpPr>
          <p:nvPr/>
        </p:nvSpPr>
        <p:spPr>
          <a:xfrm>
            <a:off x="6419850" y="2895600"/>
            <a:ext cx="95250" cy="95250"/>
          </a:xfrm>
          <a:prstGeom prst="ellipse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C0C186-D980-42AA-B369-59BB6105FABA}"/>
              </a:ext>
            </a:extLst>
          </p:cNvPr>
          <p:cNvSpPr>
            <a:spLocks noGrp="1"/>
          </p:cNvSpPr>
          <p:nvPr/>
        </p:nvSpPr>
        <p:spPr>
          <a:xfrm>
            <a:off x="6610350" y="2762250"/>
            <a:ext cx="3524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 dirty="0">
                <a:solidFill>
                  <a:srgbClr val="334155"/>
                </a:solidFill>
              </a:rPr>
              <a:t>Status </a:t>
            </a:r>
            <a:r>
              <a:rPr sz="1500" b="0" dirty="0" err="1">
                <a:solidFill>
                  <a:srgbClr val="334155"/>
                </a:solidFill>
              </a:rPr>
              <a:t>Dirkeu</a:t>
            </a:r>
            <a:r>
              <a:rPr sz="1500" b="0" dirty="0">
                <a:solidFill>
                  <a:srgbClr val="334155"/>
                </a:solidFill>
              </a:rPr>
              <a:t> </a:t>
            </a:r>
            <a:r>
              <a:rPr sz="1500" b="0" dirty="0" err="1">
                <a:solidFill>
                  <a:srgbClr val="334155"/>
                </a:solidFill>
              </a:rPr>
              <a:t>menunjukkan</a:t>
            </a:r>
            <a:r>
              <a:rPr sz="1500" b="0" dirty="0">
                <a:solidFill>
                  <a:srgbClr val="334155"/>
                </a:solidFill>
              </a:rPr>
              <a:t> </a:t>
            </a:r>
            <a:r>
              <a:rPr sz="1500" b="0" dirty="0" err="1">
                <a:solidFill>
                  <a:srgbClr val="334155"/>
                </a:solidFill>
              </a:rPr>
              <a:t>apakah</a:t>
            </a:r>
            <a:r>
              <a:rPr sz="1500" b="0" dirty="0">
                <a:solidFill>
                  <a:srgbClr val="334155"/>
                </a:solidFill>
              </a:rPr>
              <a:t> </a:t>
            </a:r>
            <a:r>
              <a:rPr sz="1500" b="0" dirty="0" err="1">
                <a:solidFill>
                  <a:srgbClr val="334155"/>
                </a:solidFill>
              </a:rPr>
              <a:t>ajuan</a:t>
            </a:r>
            <a:r>
              <a:rPr sz="1500" b="0" dirty="0">
                <a:solidFill>
                  <a:srgbClr val="334155"/>
                </a:solidFill>
              </a:rPr>
              <a:t> </a:t>
            </a:r>
            <a:r>
              <a:rPr sz="1500" b="0" dirty="0" err="1">
                <a:solidFill>
                  <a:srgbClr val="334155"/>
                </a:solidFill>
              </a:rPr>
              <a:t>menunggu</a:t>
            </a:r>
            <a:r>
              <a:rPr sz="1500" b="0" dirty="0">
                <a:solidFill>
                  <a:srgbClr val="334155"/>
                </a:solidFill>
              </a:rPr>
              <a:t> review, </a:t>
            </a:r>
            <a:r>
              <a:rPr sz="1500" b="0" dirty="0" err="1">
                <a:solidFill>
                  <a:srgbClr val="334155"/>
                </a:solidFill>
              </a:rPr>
              <a:t>revisi</a:t>
            </a:r>
            <a:r>
              <a:rPr sz="1500" b="0" dirty="0">
                <a:solidFill>
                  <a:srgbClr val="334155"/>
                </a:solidFill>
              </a:rPr>
              <a:t>, </a:t>
            </a:r>
            <a:r>
              <a:rPr sz="1500" b="0" dirty="0" err="1">
                <a:solidFill>
                  <a:srgbClr val="334155"/>
                </a:solidFill>
              </a:rPr>
              <a:t>atau</a:t>
            </a:r>
            <a:r>
              <a:rPr sz="1500" b="0" dirty="0">
                <a:solidFill>
                  <a:srgbClr val="334155"/>
                </a:solidFill>
              </a:rPr>
              <a:t> </a:t>
            </a:r>
            <a:r>
              <a:rPr sz="1500" b="0" dirty="0" err="1">
                <a:solidFill>
                  <a:srgbClr val="334155"/>
                </a:solidFill>
              </a:rPr>
              <a:t>sudah</a:t>
            </a:r>
            <a:r>
              <a:rPr sz="1500" b="0" dirty="0">
                <a:solidFill>
                  <a:srgbClr val="334155"/>
                </a:solidFill>
              </a:rPr>
              <a:t> </a:t>
            </a:r>
            <a:r>
              <a:rPr sz="1500" b="0" dirty="0" err="1">
                <a:solidFill>
                  <a:srgbClr val="334155"/>
                </a:solidFill>
              </a:rPr>
              <a:t>disetujui</a:t>
            </a:r>
            <a:r>
              <a:rPr sz="1500" b="0" dirty="0">
                <a:solidFill>
                  <a:srgbClr val="334155"/>
                </a:solidFill>
              </a:rPr>
              <a:t>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18AA720-524D-4070-8D3B-329685A240B0}"/>
              </a:ext>
            </a:extLst>
          </p:cNvPr>
          <p:cNvSpPr>
            <a:spLocks noGrp="1"/>
          </p:cNvSpPr>
          <p:nvPr/>
        </p:nvSpPr>
        <p:spPr>
          <a:xfrm>
            <a:off x="6419850" y="3600450"/>
            <a:ext cx="95250" cy="95250"/>
          </a:xfrm>
          <a:prstGeom prst="ellipse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14DF351-EA92-41E8-A492-A58D65DE8EE4}"/>
              </a:ext>
            </a:extLst>
          </p:cNvPr>
          <p:cNvSpPr>
            <a:spLocks noGrp="1"/>
          </p:cNvSpPr>
          <p:nvPr/>
        </p:nvSpPr>
        <p:spPr>
          <a:xfrm>
            <a:off x="6610350" y="3467100"/>
            <a:ext cx="3524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 dirty="0">
                <a:solidFill>
                  <a:srgbClr val="334155"/>
                </a:solidFill>
              </a:rPr>
              <a:t>Admin </a:t>
            </a:r>
            <a:r>
              <a:rPr sz="1500" b="0" dirty="0" err="1">
                <a:solidFill>
                  <a:srgbClr val="334155"/>
                </a:solidFill>
              </a:rPr>
              <a:t>tetap</a:t>
            </a:r>
            <a:r>
              <a:rPr sz="1500" b="0" dirty="0">
                <a:solidFill>
                  <a:srgbClr val="334155"/>
                </a:solidFill>
              </a:rPr>
              <a:t> </a:t>
            </a:r>
            <a:r>
              <a:rPr sz="1500" b="0" dirty="0" err="1">
                <a:solidFill>
                  <a:srgbClr val="334155"/>
                </a:solidFill>
              </a:rPr>
              <a:t>dapat</a:t>
            </a:r>
            <a:r>
              <a:rPr sz="1500" b="0" dirty="0">
                <a:solidFill>
                  <a:srgbClr val="334155"/>
                </a:solidFill>
              </a:rPr>
              <a:t> </a:t>
            </a:r>
            <a:r>
              <a:rPr sz="1500" b="0" dirty="0" err="1">
                <a:solidFill>
                  <a:srgbClr val="334155"/>
                </a:solidFill>
              </a:rPr>
              <a:t>melihat</a:t>
            </a:r>
            <a:r>
              <a:rPr sz="1500" b="0" dirty="0">
                <a:solidFill>
                  <a:srgbClr val="334155"/>
                </a:solidFill>
              </a:rPr>
              <a:t> link </a:t>
            </a:r>
            <a:r>
              <a:rPr sz="1500" b="0" dirty="0" err="1">
                <a:solidFill>
                  <a:srgbClr val="334155"/>
                </a:solidFill>
              </a:rPr>
              <a:t>bukti</a:t>
            </a:r>
            <a:r>
              <a:rPr sz="1500" b="0" dirty="0">
                <a:solidFill>
                  <a:srgbClr val="334155"/>
                </a:solidFill>
              </a:rPr>
              <a:t> TF </a:t>
            </a:r>
            <a:r>
              <a:rPr sz="1500" b="0" dirty="0" err="1">
                <a:solidFill>
                  <a:srgbClr val="334155"/>
                </a:solidFill>
              </a:rPr>
              <a:t>jika</a:t>
            </a:r>
            <a:r>
              <a:rPr sz="1500" b="0" dirty="0">
                <a:solidFill>
                  <a:srgbClr val="334155"/>
                </a:solidFill>
              </a:rPr>
              <a:t> </a:t>
            </a:r>
            <a:r>
              <a:rPr sz="1500" b="0" dirty="0" err="1">
                <a:solidFill>
                  <a:srgbClr val="334155"/>
                </a:solidFill>
              </a:rPr>
              <a:t>Dirkeu</a:t>
            </a:r>
            <a:r>
              <a:rPr sz="1500" b="0" dirty="0">
                <a:solidFill>
                  <a:srgbClr val="334155"/>
                </a:solidFill>
              </a:rPr>
              <a:t> </a:t>
            </a:r>
            <a:r>
              <a:rPr sz="1500" b="0" dirty="0" err="1">
                <a:solidFill>
                  <a:srgbClr val="334155"/>
                </a:solidFill>
              </a:rPr>
              <a:t>mengupload</a:t>
            </a:r>
            <a:r>
              <a:rPr sz="1500" b="0" dirty="0">
                <a:solidFill>
                  <a:srgbClr val="334155"/>
                </a:solidFill>
              </a:rPr>
              <a:t> </a:t>
            </a:r>
            <a:r>
              <a:rPr sz="1500" b="0" dirty="0" err="1">
                <a:solidFill>
                  <a:srgbClr val="334155"/>
                </a:solidFill>
              </a:rPr>
              <a:t>bukti</a:t>
            </a:r>
            <a:r>
              <a:rPr sz="1500" b="0" dirty="0">
                <a:solidFill>
                  <a:srgbClr val="334155"/>
                </a:solidFill>
              </a:rPr>
              <a:t> </a:t>
            </a:r>
            <a:r>
              <a:rPr sz="1500" b="0" dirty="0" err="1">
                <a:solidFill>
                  <a:srgbClr val="334155"/>
                </a:solidFill>
              </a:rPr>
              <a:t>pembayaran</a:t>
            </a:r>
            <a:r>
              <a:rPr sz="1500" b="0" dirty="0">
                <a:solidFill>
                  <a:srgbClr val="334155"/>
                </a:solidFill>
              </a:rPr>
              <a:t>.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68F83BD-1A18-43B5-BC78-585E23E209FE}"/>
              </a:ext>
            </a:extLst>
          </p:cNvPr>
          <p:cNvSpPr>
            <a:spLocks noGrp="1"/>
          </p:cNvSpPr>
          <p:nvPr/>
        </p:nvSpPr>
        <p:spPr>
          <a:xfrm>
            <a:off x="6419850" y="4143375"/>
            <a:ext cx="95250" cy="95250"/>
          </a:xfrm>
          <a:prstGeom prst="ellipse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6EABFA-5348-4B56-8944-75811511DDEB}"/>
              </a:ext>
            </a:extLst>
          </p:cNvPr>
          <p:cNvSpPr>
            <a:spLocks noGrp="1"/>
          </p:cNvSpPr>
          <p:nvPr/>
        </p:nvSpPr>
        <p:spPr>
          <a:xfrm>
            <a:off x="6610350" y="4000500"/>
            <a:ext cx="3524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 dirty="0" err="1">
                <a:solidFill>
                  <a:srgbClr val="334155"/>
                </a:solidFill>
              </a:rPr>
              <a:t>Untuk</a:t>
            </a:r>
            <a:r>
              <a:rPr sz="1500" b="0" dirty="0">
                <a:solidFill>
                  <a:srgbClr val="334155"/>
                </a:solidFill>
              </a:rPr>
              <a:t> </a:t>
            </a:r>
            <a:r>
              <a:rPr sz="1500" b="0" dirty="0" err="1">
                <a:solidFill>
                  <a:srgbClr val="334155"/>
                </a:solidFill>
              </a:rPr>
              <a:t>ajuan</a:t>
            </a:r>
            <a:r>
              <a:rPr sz="1500" b="0" dirty="0">
                <a:solidFill>
                  <a:srgbClr val="334155"/>
                </a:solidFill>
              </a:rPr>
              <a:t> </a:t>
            </a:r>
            <a:r>
              <a:rPr sz="1500" b="0" dirty="0" err="1">
                <a:solidFill>
                  <a:srgbClr val="334155"/>
                </a:solidFill>
              </a:rPr>
              <a:t>tanpa</a:t>
            </a:r>
            <a:r>
              <a:rPr sz="1500" b="0" dirty="0">
                <a:solidFill>
                  <a:srgbClr val="334155"/>
                </a:solidFill>
              </a:rPr>
              <a:t> </a:t>
            </a:r>
            <a:r>
              <a:rPr sz="1500" b="0" dirty="0" err="1">
                <a:solidFill>
                  <a:srgbClr val="334155"/>
                </a:solidFill>
              </a:rPr>
              <a:t>bukti</a:t>
            </a:r>
            <a:r>
              <a:rPr sz="1500" b="0" dirty="0">
                <a:solidFill>
                  <a:srgbClr val="334155"/>
                </a:solidFill>
              </a:rPr>
              <a:t> TF, dashboard </a:t>
            </a:r>
            <a:r>
              <a:rPr sz="1500" b="0" dirty="0" err="1">
                <a:solidFill>
                  <a:srgbClr val="334155"/>
                </a:solidFill>
              </a:rPr>
              <a:t>akan</a:t>
            </a:r>
            <a:r>
              <a:rPr sz="1500" b="0" dirty="0">
                <a:solidFill>
                  <a:srgbClr val="334155"/>
                </a:solidFill>
              </a:rPr>
              <a:t> </a:t>
            </a:r>
            <a:r>
              <a:rPr sz="1500" b="0" dirty="0" err="1">
                <a:solidFill>
                  <a:srgbClr val="334155"/>
                </a:solidFill>
              </a:rPr>
              <a:t>menampilkan</a:t>
            </a:r>
            <a:r>
              <a:rPr sz="1500" b="0" dirty="0">
                <a:solidFill>
                  <a:srgbClr val="334155"/>
                </a:solidFill>
              </a:rPr>
              <a:t> status </a:t>
            </a:r>
            <a:r>
              <a:rPr sz="1500" b="0" dirty="0" err="1">
                <a:solidFill>
                  <a:srgbClr val="334155"/>
                </a:solidFill>
              </a:rPr>
              <a:t>Dibayar</a:t>
            </a:r>
            <a:r>
              <a:rPr sz="1500" b="0" dirty="0">
                <a:solidFill>
                  <a:srgbClr val="334155"/>
                </a:solidFill>
              </a:rPr>
              <a:t> </a:t>
            </a:r>
            <a:r>
              <a:rPr sz="1500" b="0" dirty="0" err="1">
                <a:solidFill>
                  <a:srgbClr val="334155"/>
                </a:solidFill>
              </a:rPr>
              <a:t>Tanpa</a:t>
            </a:r>
            <a:r>
              <a:rPr sz="1500" b="0" dirty="0">
                <a:solidFill>
                  <a:srgbClr val="334155"/>
                </a:solidFill>
              </a:rPr>
              <a:t> Bukti TF.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9B7EA52-A336-4B02-9C71-8C690758D14C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Panduan Ajuan Pembayaran • Slide 5</a:t>
            </a:r>
          </a:p>
        </p:txBody>
      </p:sp>
    </p:spTree>
    <p:extLst>
      <p:ext uri="{BB962C8B-B14F-4D97-AF65-F5344CB8AC3E}">
        <p14:creationId xmlns:p14="http://schemas.microsoft.com/office/powerpoint/2010/main" val="1680454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0D7A2C28-A572-4CFA-9BA7-1BAF250E6CD2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428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4213D"/>
                </a:solidFill>
              </a:defRPr>
            </a:pPr>
            <a:r>
              <a:rPr sz="2250" b="1">
                <a:solidFill>
                  <a:srgbClr val="14213D"/>
                </a:solidFill>
              </a:rPr>
              <a:t>5. Alur Kerja Dirkeu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60AFC26-A993-4EDE-BA2C-444E244B14B9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363200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E1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0B8F95-4204-4282-86C5-20571AAD6468}"/>
              </a:ext>
            </a:extLst>
          </p:cNvPr>
          <p:cNvSpPr>
            <a:spLocks noGrp="1"/>
          </p:cNvSpPr>
          <p:nvPr/>
        </p:nvSpPr>
        <p:spPr>
          <a:xfrm>
            <a:off x="1047750" y="18669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D4ED8"/>
                </a:solidFill>
              </a:defRPr>
            </a:pPr>
            <a:r>
              <a:rPr sz="1800" b="1">
                <a:solidFill>
                  <a:srgbClr val="1D4ED8"/>
                </a:solidFill>
              </a:rPr>
              <a:t>Review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A4FD7C-8949-45FF-87C3-F7156439EFBD}"/>
              </a:ext>
            </a:extLst>
          </p:cNvPr>
          <p:cNvSpPr>
            <a:spLocks noGrp="1"/>
          </p:cNvSpPr>
          <p:nvPr/>
        </p:nvSpPr>
        <p:spPr>
          <a:xfrm>
            <a:off x="1047750" y="2266950"/>
            <a:ext cx="876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Buka menu Review Dirkeu, cek detail ajuan, lalu pilih Setujui, Tolak, atau Minta Revisi. Catatan review wajib jelas jika menolak atau meminta revisi.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8EEC552-89A5-4804-9929-DBC212C79149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4953000" cy="238125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7E1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9A87A3-1D1E-48A8-9C4F-D427F7796925}"/>
              </a:ext>
            </a:extLst>
          </p:cNvPr>
          <p:cNvSpPr>
            <a:spLocks noGrp="1"/>
          </p:cNvSpPr>
          <p:nvPr/>
        </p:nvSpPr>
        <p:spPr>
          <a:xfrm>
            <a:off x="990600" y="35814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Jika ajuan disetujui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6911803-F297-477C-B9FA-570BD1956581}"/>
              </a:ext>
            </a:extLst>
          </p:cNvPr>
          <p:cNvSpPr>
            <a:spLocks noGrp="1"/>
          </p:cNvSpPr>
          <p:nvPr/>
        </p:nvSpPr>
        <p:spPr>
          <a:xfrm>
            <a:off x="1009650" y="4143375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148F4B-A127-4DD5-9FAE-A65BA7A28445}"/>
              </a:ext>
            </a:extLst>
          </p:cNvPr>
          <p:cNvSpPr>
            <a:spLocks noGrp="1"/>
          </p:cNvSpPr>
          <p:nvPr/>
        </p:nvSpPr>
        <p:spPr>
          <a:xfrm>
            <a:off x="1200150" y="4076700"/>
            <a:ext cx="3524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Ajuan otomatis masuk tahap pembayaran.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B5E56B5-6443-41E0-96F1-060B4672AF72}"/>
              </a:ext>
            </a:extLst>
          </p:cNvPr>
          <p:cNvSpPr>
            <a:spLocks noGrp="1"/>
          </p:cNvSpPr>
          <p:nvPr/>
        </p:nvSpPr>
        <p:spPr>
          <a:xfrm>
            <a:off x="1009650" y="4657725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E1BC9F-F0D3-4ADA-B29F-C50C3484A245}"/>
              </a:ext>
            </a:extLst>
          </p:cNvPr>
          <p:cNvSpPr>
            <a:spLocks noGrp="1"/>
          </p:cNvSpPr>
          <p:nvPr/>
        </p:nvSpPr>
        <p:spPr>
          <a:xfrm>
            <a:off x="1200150" y="4591050"/>
            <a:ext cx="3524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Dirkeu buka menu Bukti TF.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CB850B9-8876-485B-A9CF-53CE512EB0C7}"/>
              </a:ext>
            </a:extLst>
          </p:cNvPr>
          <p:cNvSpPr>
            <a:spLocks noGrp="1"/>
          </p:cNvSpPr>
          <p:nvPr/>
        </p:nvSpPr>
        <p:spPr>
          <a:xfrm>
            <a:off x="1009650" y="5172075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70AEA6-9DA3-4A12-ACDD-54DFDC6F20D1}"/>
              </a:ext>
            </a:extLst>
          </p:cNvPr>
          <p:cNvSpPr>
            <a:spLocks noGrp="1"/>
          </p:cNvSpPr>
          <p:nvPr/>
        </p:nvSpPr>
        <p:spPr>
          <a:xfrm>
            <a:off x="1200150" y="5105400"/>
            <a:ext cx="3524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Pilih salah satu: upload bukti atau tandai tanpa bukti TF.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B8E4ED4-35F1-4445-83B4-0F32FED2F428}"/>
              </a:ext>
            </a:extLst>
          </p:cNvPr>
          <p:cNvSpPr>
            <a:spLocks noGrp="1"/>
          </p:cNvSpPr>
          <p:nvPr/>
        </p:nvSpPr>
        <p:spPr>
          <a:xfrm>
            <a:off x="6096000" y="3238500"/>
            <a:ext cx="4953000" cy="238125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7E1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B3891F-1EC7-4899-949D-7B9BBF8C3691}"/>
              </a:ext>
            </a:extLst>
          </p:cNvPr>
          <p:cNvSpPr>
            <a:spLocks noGrp="1"/>
          </p:cNvSpPr>
          <p:nvPr/>
        </p:nvSpPr>
        <p:spPr>
          <a:xfrm>
            <a:off x="6400800" y="358140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DC2626"/>
                </a:solidFill>
              </a:defRPr>
            </a:pPr>
            <a:r>
              <a:rPr sz="1800" b="1">
                <a:solidFill>
                  <a:srgbClr val="DC2626"/>
                </a:solidFill>
              </a:rPr>
              <a:t>Jika perlu revisi / ditolak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9193FC0-B7C6-48D5-84DE-3F386AFE9EFB}"/>
              </a:ext>
            </a:extLst>
          </p:cNvPr>
          <p:cNvSpPr>
            <a:spLocks noGrp="1"/>
          </p:cNvSpPr>
          <p:nvPr/>
        </p:nvSpPr>
        <p:spPr>
          <a:xfrm>
            <a:off x="6419850" y="4143375"/>
            <a:ext cx="95250" cy="95250"/>
          </a:xfrm>
          <a:prstGeom prst="ellipse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DF699A9-662B-4F70-8B4E-BED1ADE90848}"/>
              </a:ext>
            </a:extLst>
          </p:cNvPr>
          <p:cNvSpPr>
            <a:spLocks noGrp="1"/>
          </p:cNvSpPr>
          <p:nvPr/>
        </p:nvSpPr>
        <p:spPr>
          <a:xfrm>
            <a:off x="6610350" y="4076700"/>
            <a:ext cx="3524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Tulis alasan secara spesifik agar admin tahu apa yang perlu diperbaiki.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8E27F1C-3490-43BB-9D7E-8AAA298344D3}"/>
              </a:ext>
            </a:extLst>
          </p:cNvPr>
          <p:cNvSpPr>
            <a:spLocks noGrp="1"/>
          </p:cNvSpPr>
          <p:nvPr/>
        </p:nvSpPr>
        <p:spPr>
          <a:xfrm>
            <a:off x="6419850" y="4657725"/>
            <a:ext cx="95250" cy="95250"/>
          </a:xfrm>
          <a:prstGeom prst="ellipse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BB51F1-1584-4F25-82E1-1613FAE2E28E}"/>
              </a:ext>
            </a:extLst>
          </p:cNvPr>
          <p:cNvSpPr>
            <a:spLocks noGrp="1"/>
          </p:cNvSpPr>
          <p:nvPr/>
        </p:nvSpPr>
        <p:spPr>
          <a:xfrm>
            <a:off x="6610350" y="4591050"/>
            <a:ext cx="3524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Admin akan melihat status dan catatan pada halaman edit ajuan.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24FE7CB-C964-4C36-9D66-029463B30F8E}"/>
              </a:ext>
            </a:extLst>
          </p:cNvPr>
          <p:cNvSpPr>
            <a:spLocks noGrp="1"/>
          </p:cNvSpPr>
          <p:nvPr/>
        </p:nvSpPr>
        <p:spPr>
          <a:xfrm>
            <a:off x="6419850" y="5172075"/>
            <a:ext cx="95250" cy="95250"/>
          </a:xfrm>
          <a:prstGeom prst="ellipse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2919E7B-F4E8-4624-B2CD-C423775190B4}"/>
              </a:ext>
            </a:extLst>
          </p:cNvPr>
          <p:cNvSpPr>
            <a:spLocks noGrp="1"/>
          </p:cNvSpPr>
          <p:nvPr/>
        </p:nvSpPr>
        <p:spPr>
          <a:xfrm>
            <a:off x="6610350" y="5105400"/>
            <a:ext cx="3524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Setelah direvisi, admin bisa ajukan ulang.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5E502D-E206-481E-900C-691C61060E37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Panduan Ajuan Pembayaran • Slide 6</a:t>
            </a:r>
          </a:p>
        </p:txBody>
      </p:sp>
    </p:spTree>
    <p:extLst>
      <p:ext uri="{BB962C8B-B14F-4D97-AF65-F5344CB8AC3E}">
        <p14:creationId xmlns:p14="http://schemas.microsoft.com/office/powerpoint/2010/main" val="666101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98C71797-5D58-40EC-A6CB-3C0D28641ED6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495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4213D"/>
                </a:solidFill>
              </a:defRPr>
            </a:pPr>
            <a:r>
              <a:rPr sz="2250" b="1">
                <a:solidFill>
                  <a:srgbClr val="14213D"/>
                </a:solidFill>
              </a:rPr>
              <a:t>6. Bukti TF Bersifat Opsional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3E4CC5-C3CE-4F19-9157-D87D80BF33CE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0708B"/>
                </a:solidFill>
              </a:defRPr>
            </a:pPr>
            <a:r>
              <a:rPr sz="1350">
                <a:solidFill>
                  <a:srgbClr val="60708B"/>
                </a:solidFill>
              </a:rPr>
              <a:t>Sistem sekarang mendukung dua hasil pembayaran yang berbeda.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0FC5F90-08E8-4229-909D-D36B9753897C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4762500" cy="32385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7E1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D5C5BA-411F-453C-8981-065D5F5D697B}"/>
              </a:ext>
            </a:extLst>
          </p:cNvPr>
          <p:cNvSpPr>
            <a:spLocks noGrp="1"/>
          </p:cNvSpPr>
          <p:nvPr/>
        </p:nvSpPr>
        <p:spPr>
          <a:xfrm>
            <a:off x="990599" y="1962150"/>
            <a:ext cx="35147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F766E"/>
                </a:solidFill>
              </a:defRPr>
            </a:pPr>
            <a:r>
              <a:rPr sz="1800" b="1" dirty="0" err="1">
                <a:solidFill>
                  <a:srgbClr val="0F766E"/>
                </a:solidFill>
              </a:rPr>
              <a:t>Opsi</a:t>
            </a:r>
            <a:r>
              <a:rPr sz="1800" b="1" dirty="0">
                <a:solidFill>
                  <a:srgbClr val="0F766E"/>
                </a:solidFill>
              </a:rPr>
              <a:t> 1 • Upload Bukti TF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E0A0E18-7868-4742-B97F-E824A12BE785}"/>
              </a:ext>
            </a:extLst>
          </p:cNvPr>
          <p:cNvSpPr>
            <a:spLocks noGrp="1"/>
          </p:cNvSpPr>
          <p:nvPr/>
        </p:nvSpPr>
        <p:spPr>
          <a:xfrm>
            <a:off x="1009650" y="2505075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75D0D8-6858-4296-B51F-CA3AB1F3EDF5}"/>
              </a:ext>
            </a:extLst>
          </p:cNvPr>
          <p:cNvSpPr>
            <a:spLocks noGrp="1"/>
          </p:cNvSpPr>
          <p:nvPr/>
        </p:nvSpPr>
        <p:spPr>
          <a:xfrm>
            <a:off x="1200150" y="2438400"/>
            <a:ext cx="342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Gunakan jika pembayaran punya file bukti transfer.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4F99AC6-C63F-40C7-8068-60D07663B4E8}"/>
              </a:ext>
            </a:extLst>
          </p:cNvPr>
          <p:cNvSpPr>
            <a:spLocks noGrp="1"/>
          </p:cNvSpPr>
          <p:nvPr/>
        </p:nvSpPr>
        <p:spPr>
          <a:xfrm>
            <a:off x="1009650" y="3019425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5A2F6C-B547-4A50-A6CF-81E0BFD0D67A}"/>
              </a:ext>
            </a:extLst>
          </p:cNvPr>
          <p:cNvSpPr>
            <a:spLocks noGrp="1"/>
          </p:cNvSpPr>
          <p:nvPr/>
        </p:nvSpPr>
        <p:spPr>
          <a:xfrm>
            <a:off x="1200150" y="2952750"/>
            <a:ext cx="342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Setelah upload, status menjadi Selesai Dibayar.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B57FBEC-F1CC-4297-B65D-C0E8BBC469FA}"/>
              </a:ext>
            </a:extLst>
          </p:cNvPr>
          <p:cNvSpPr>
            <a:spLocks noGrp="1"/>
          </p:cNvSpPr>
          <p:nvPr/>
        </p:nvSpPr>
        <p:spPr>
          <a:xfrm>
            <a:off x="1009650" y="3533775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C14563-C88A-4C0D-9331-31F57942D8DD}"/>
              </a:ext>
            </a:extLst>
          </p:cNvPr>
          <p:cNvSpPr>
            <a:spLocks noGrp="1"/>
          </p:cNvSpPr>
          <p:nvPr/>
        </p:nvSpPr>
        <p:spPr>
          <a:xfrm>
            <a:off x="1200150" y="3467100"/>
            <a:ext cx="342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Admin bisa klik link bukti dari dashboard Cek Ajuan.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244F28D-5D9A-4C2A-A5E5-B997821664C8}"/>
              </a:ext>
            </a:extLst>
          </p:cNvPr>
          <p:cNvSpPr>
            <a:spLocks noGrp="1"/>
          </p:cNvSpPr>
          <p:nvPr/>
        </p:nvSpPr>
        <p:spPr>
          <a:xfrm>
            <a:off x="5905500" y="1581150"/>
            <a:ext cx="5143500" cy="32385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7E1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08404B-3537-4C42-AEAC-BFA9635FC738}"/>
              </a:ext>
            </a:extLst>
          </p:cNvPr>
          <p:cNvSpPr>
            <a:spLocks noGrp="1"/>
          </p:cNvSpPr>
          <p:nvPr/>
        </p:nvSpPr>
        <p:spPr>
          <a:xfrm>
            <a:off x="6210299" y="1962150"/>
            <a:ext cx="30575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0891B2"/>
                </a:solidFill>
              </a:defRPr>
            </a:pPr>
            <a:r>
              <a:rPr sz="1800" b="1" dirty="0" err="1">
                <a:solidFill>
                  <a:srgbClr val="0891B2"/>
                </a:solidFill>
              </a:rPr>
              <a:t>Opsi</a:t>
            </a:r>
            <a:r>
              <a:rPr sz="1800" b="1" dirty="0">
                <a:solidFill>
                  <a:srgbClr val="0891B2"/>
                </a:solidFill>
              </a:rPr>
              <a:t> 2 • </a:t>
            </a:r>
            <a:r>
              <a:rPr sz="1800" b="1" dirty="0" err="1">
                <a:solidFill>
                  <a:srgbClr val="0891B2"/>
                </a:solidFill>
              </a:rPr>
              <a:t>Tanpa</a:t>
            </a:r>
            <a:r>
              <a:rPr sz="1800" b="1" dirty="0">
                <a:solidFill>
                  <a:srgbClr val="0891B2"/>
                </a:solidFill>
              </a:rPr>
              <a:t> Bukti TF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F77634F-FBD9-476A-84D2-945AE0F12677}"/>
              </a:ext>
            </a:extLst>
          </p:cNvPr>
          <p:cNvSpPr>
            <a:spLocks noGrp="1"/>
          </p:cNvSpPr>
          <p:nvPr/>
        </p:nvSpPr>
        <p:spPr>
          <a:xfrm>
            <a:off x="6229350" y="2505075"/>
            <a:ext cx="95250" cy="95250"/>
          </a:xfrm>
          <a:prstGeom prst="ellipse">
            <a:avLst/>
          </a:prstGeom>
          <a:solidFill>
            <a:srgbClr val="0891B2"/>
          </a:solidFill>
          <a:ln w="0">
            <a:solidFill>
              <a:srgbClr val="0891B2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45FCCE-CBDD-45FC-814A-6805599E7AFC}"/>
              </a:ext>
            </a:extLst>
          </p:cNvPr>
          <p:cNvSpPr>
            <a:spLocks noGrp="1"/>
          </p:cNvSpPr>
          <p:nvPr/>
        </p:nvSpPr>
        <p:spPr>
          <a:xfrm>
            <a:off x="6419850" y="2438400"/>
            <a:ext cx="3619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Gunakan jika pembayaran selesai tetapi memang tidak membutuhkan bukti transfer.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AFEB901-E043-4DE9-9E4D-EAA2FF221F84}"/>
              </a:ext>
            </a:extLst>
          </p:cNvPr>
          <p:cNvSpPr>
            <a:spLocks noGrp="1"/>
          </p:cNvSpPr>
          <p:nvPr/>
        </p:nvSpPr>
        <p:spPr>
          <a:xfrm>
            <a:off x="6229350" y="3019425"/>
            <a:ext cx="95250" cy="95250"/>
          </a:xfrm>
          <a:prstGeom prst="ellipse">
            <a:avLst/>
          </a:prstGeom>
          <a:solidFill>
            <a:srgbClr val="0891B2"/>
          </a:solidFill>
          <a:ln w="0">
            <a:solidFill>
              <a:srgbClr val="0891B2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1230AD-1C31-4442-86A6-64227F2D02EC}"/>
              </a:ext>
            </a:extLst>
          </p:cNvPr>
          <p:cNvSpPr>
            <a:spLocks noGrp="1"/>
          </p:cNvSpPr>
          <p:nvPr/>
        </p:nvSpPr>
        <p:spPr>
          <a:xfrm>
            <a:off x="6419850" y="2952750"/>
            <a:ext cx="3619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Klik tombol Tandai Sudah Dibayar pada menu Bukti TF.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EE53841-6CF7-48EF-8C7E-F534E09E48C6}"/>
              </a:ext>
            </a:extLst>
          </p:cNvPr>
          <p:cNvSpPr>
            <a:spLocks noGrp="1"/>
          </p:cNvSpPr>
          <p:nvPr/>
        </p:nvSpPr>
        <p:spPr>
          <a:xfrm>
            <a:off x="6229350" y="3533775"/>
            <a:ext cx="95250" cy="95250"/>
          </a:xfrm>
          <a:prstGeom prst="ellipse">
            <a:avLst/>
          </a:prstGeom>
          <a:solidFill>
            <a:srgbClr val="0891B2"/>
          </a:solidFill>
          <a:ln w="0">
            <a:solidFill>
              <a:srgbClr val="0891B2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E36864-75DF-4F39-85D7-AE2400D851EE}"/>
              </a:ext>
            </a:extLst>
          </p:cNvPr>
          <p:cNvSpPr>
            <a:spLocks noGrp="1"/>
          </p:cNvSpPr>
          <p:nvPr/>
        </p:nvSpPr>
        <p:spPr>
          <a:xfrm>
            <a:off x="6419850" y="3467100"/>
            <a:ext cx="3619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Status akhir menjadi Dibayar Tanpa Bukti TF.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0A10795-3B4E-4E1D-9A00-F97E6B70BD7C}"/>
              </a:ext>
            </a:extLst>
          </p:cNvPr>
          <p:cNvSpPr>
            <a:spLocks noGrp="1"/>
          </p:cNvSpPr>
          <p:nvPr/>
        </p:nvSpPr>
        <p:spPr>
          <a:xfrm>
            <a:off x="6229350" y="4048125"/>
            <a:ext cx="95250" cy="95250"/>
          </a:xfrm>
          <a:prstGeom prst="ellipse">
            <a:avLst/>
          </a:prstGeom>
          <a:solidFill>
            <a:srgbClr val="0891B2"/>
          </a:solidFill>
          <a:ln w="0">
            <a:solidFill>
              <a:srgbClr val="0891B2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0B3ECB3-28F0-4321-8117-B6928CBEF870}"/>
              </a:ext>
            </a:extLst>
          </p:cNvPr>
          <p:cNvSpPr>
            <a:spLocks noGrp="1"/>
          </p:cNvSpPr>
          <p:nvPr/>
        </p:nvSpPr>
        <p:spPr>
          <a:xfrm>
            <a:off x="6419850" y="3981450"/>
            <a:ext cx="3619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Status ini tetap terlihat oleh admin di dashboard.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DB311D4-BC8D-4F7F-9603-8EFAEA9D2B2A}"/>
              </a:ext>
            </a:extLst>
          </p:cNvPr>
          <p:cNvSpPr>
            <a:spLocks noGrp="1"/>
          </p:cNvSpPr>
          <p:nvPr/>
        </p:nvSpPr>
        <p:spPr>
          <a:xfrm>
            <a:off x="685800" y="5181600"/>
            <a:ext cx="10363200" cy="704850"/>
          </a:xfrm>
          <a:prstGeom prst="roundRect">
            <a:avLst>
              <a:gd name="adj" fmla="val 21622"/>
            </a:avLst>
          </a:prstGeom>
          <a:solidFill>
            <a:srgbClr val="EEF7FF"/>
          </a:solidFill>
          <a:ln w="9525">
            <a:solidFill>
              <a:srgbClr val="C7DEF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F30D77C-924F-4C7A-9FD2-A504BCF81B39}"/>
              </a:ext>
            </a:extLst>
          </p:cNvPr>
          <p:cNvSpPr>
            <a:spLocks noGrp="1"/>
          </p:cNvSpPr>
          <p:nvPr/>
        </p:nvSpPr>
        <p:spPr>
          <a:xfrm>
            <a:off x="971550" y="5410200"/>
            <a:ext cx="942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D4ED8"/>
                </a:solidFill>
              </a:defRPr>
            </a:pPr>
            <a:r>
              <a:rPr sz="1500" b="1">
                <a:solidFill>
                  <a:srgbClr val="1D4ED8"/>
                </a:solidFill>
              </a:rPr>
              <a:t>Tujuan status khusus ini adalah agar user tidak bingung antara pembayaran yang sudah selesai dengan pembayaran yang masih menunggu bukti.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56281CA-9ECC-427E-A579-0287D53B3068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Panduan Ajuan Pembayaran • Slide 7</a:t>
            </a:r>
          </a:p>
        </p:txBody>
      </p:sp>
    </p:spTree>
    <p:extLst>
      <p:ext uri="{BB962C8B-B14F-4D97-AF65-F5344CB8AC3E}">
        <p14:creationId xmlns:p14="http://schemas.microsoft.com/office/powerpoint/2010/main" val="2010614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204E3A3-AA58-416B-BDAB-C7D211F8BB8C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495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4213D"/>
                </a:solidFill>
              </a:defRPr>
            </a:pPr>
            <a:r>
              <a:rPr sz="2250" b="1">
                <a:solidFill>
                  <a:srgbClr val="14213D"/>
                </a:solidFill>
              </a:rPr>
              <a:t>7. Tips dan Troubleshooting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106E413-1AAE-42B1-BA7C-5ADF6CCD72C4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363200" cy="40005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7E1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5B8B31E-3604-4860-9CC7-D43528BB0CBF}"/>
              </a:ext>
            </a:extLst>
          </p:cNvPr>
          <p:cNvSpPr>
            <a:spLocks noGrp="1"/>
          </p:cNvSpPr>
          <p:nvPr/>
        </p:nvSpPr>
        <p:spPr>
          <a:xfrm>
            <a:off x="990600" y="1933575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296DA8-CD9E-4783-B4DD-A9515418717D}"/>
              </a:ext>
            </a:extLst>
          </p:cNvPr>
          <p:cNvSpPr>
            <a:spLocks noGrp="1"/>
          </p:cNvSpPr>
          <p:nvPr/>
        </p:nvSpPr>
        <p:spPr>
          <a:xfrm>
            <a:off x="1181100" y="1866900"/>
            <a:ext cx="8953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Jika menu tidak muncul sesuai role, logout lalu login ulang dengan akun yang tepat.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4B28F3C-2D73-4BD1-AE43-CA8EA9034BB7}"/>
              </a:ext>
            </a:extLst>
          </p:cNvPr>
          <p:cNvSpPr>
            <a:spLocks noGrp="1"/>
          </p:cNvSpPr>
          <p:nvPr/>
        </p:nvSpPr>
        <p:spPr>
          <a:xfrm>
            <a:off x="990600" y="2447925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76100C-B05B-4BB7-8619-27CA856A90D9}"/>
              </a:ext>
            </a:extLst>
          </p:cNvPr>
          <p:cNvSpPr>
            <a:spLocks noGrp="1"/>
          </p:cNvSpPr>
          <p:nvPr/>
        </p:nvSpPr>
        <p:spPr>
          <a:xfrm>
            <a:off x="1181100" y="2381250"/>
            <a:ext cx="8953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Jika ajuan tidak muncul di Review Dirkeu, cek apakah Admin sudah klik Ajukan ke Dirkeu.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AA253F3-493C-41EA-8A55-2C299BA94912}"/>
              </a:ext>
            </a:extLst>
          </p:cNvPr>
          <p:cNvSpPr>
            <a:spLocks noGrp="1"/>
          </p:cNvSpPr>
          <p:nvPr/>
        </p:nvSpPr>
        <p:spPr>
          <a:xfrm>
            <a:off x="990600" y="2962275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BEBBD8-DF17-40C6-8F6B-4AF5F6F61AB5}"/>
              </a:ext>
            </a:extLst>
          </p:cNvPr>
          <p:cNvSpPr>
            <a:spLocks noGrp="1"/>
          </p:cNvSpPr>
          <p:nvPr/>
        </p:nvSpPr>
        <p:spPr>
          <a:xfrm>
            <a:off x="1181100" y="2895600"/>
            <a:ext cx="8953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Jika ajuan tidak muncul di menu Bukti TF, pastikan status review sudah Disetujui Dirkeu.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CDB7B2F-758C-48E4-B993-9A5D824B90E3}"/>
              </a:ext>
            </a:extLst>
          </p:cNvPr>
          <p:cNvSpPr>
            <a:spLocks noGrp="1"/>
          </p:cNvSpPr>
          <p:nvPr/>
        </p:nvSpPr>
        <p:spPr>
          <a:xfrm>
            <a:off x="990600" y="3476625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D59D25-4602-40A3-96D8-B48DA16A385E}"/>
              </a:ext>
            </a:extLst>
          </p:cNvPr>
          <p:cNvSpPr>
            <a:spLocks noGrp="1"/>
          </p:cNvSpPr>
          <p:nvPr/>
        </p:nvSpPr>
        <p:spPr>
          <a:xfrm>
            <a:off x="1181100" y="3409950"/>
            <a:ext cx="8953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Jika pembayaran tidak punya lampiran, gunakan status Dibayar Tanpa Bukti TF agar rekap tetap jelas.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42FD106-8B6D-44DB-858E-531C1B2C1AC8}"/>
              </a:ext>
            </a:extLst>
          </p:cNvPr>
          <p:cNvSpPr>
            <a:spLocks noGrp="1"/>
          </p:cNvSpPr>
          <p:nvPr/>
        </p:nvSpPr>
        <p:spPr>
          <a:xfrm>
            <a:off x="990600" y="3990975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D9D6EA-B05A-483D-9293-BBDA452546B4}"/>
              </a:ext>
            </a:extLst>
          </p:cNvPr>
          <p:cNvSpPr>
            <a:spLocks noGrp="1"/>
          </p:cNvSpPr>
          <p:nvPr/>
        </p:nvSpPr>
        <p:spPr>
          <a:xfrm>
            <a:off x="1181100" y="3924300"/>
            <a:ext cx="8953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Gunakan fitur search, filter, dan export Excel untuk memudahkan pengecekan data saat jumlah ajuan sudah banyak.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9AD4EF3-345A-430F-8726-9EC56FDD67E3}"/>
              </a:ext>
            </a:extLst>
          </p:cNvPr>
          <p:cNvSpPr>
            <a:spLocks noGrp="1"/>
          </p:cNvSpPr>
          <p:nvPr/>
        </p:nvSpPr>
        <p:spPr>
          <a:xfrm>
            <a:off x="685800" y="5676900"/>
            <a:ext cx="10363200" cy="495300"/>
          </a:xfrm>
          <a:prstGeom prst="roundRect">
            <a:avLst>
              <a:gd name="adj" fmla="val 30769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289E01-D1F3-48F2-A040-564E32E9BEFD}"/>
              </a:ext>
            </a:extLst>
          </p:cNvPr>
          <p:cNvSpPr>
            <a:spLocks noGrp="1"/>
          </p:cNvSpPr>
          <p:nvPr/>
        </p:nvSpPr>
        <p:spPr>
          <a:xfrm>
            <a:off x="971550" y="581025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Panduan ini bisa dibagikan ke user Admin maupun Dirkeu sebagai acuan operasional harian.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FA1F8D-DF82-408E-AEE5-126332ED9CDA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Panduan Ajuan Pembayaran • Slide 8</a:t>
            </a:r>
          </a:p>
        </p:txBody>
      </p:sp>
    </p:spTree>
    <p:extLst>
      <p:ext uri="{BB962C8B-B14F-4D97-AF65-F5344CB8AC3E}">
        <p14:creationId xmlns:p14="http://schemas.microsoft.com/office/powerpoint/2010/main" val="13179733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Ajuan Finance Guide">
      <a:dk1>
        <a:srgbClr val="000000"/>
      </a:dk1>
      <a:lt1>
        <a:srgbClr val="FFFFFF"/>
      </a:lt1>
      <a:dk2>
        <a:srgbClr val="1E293B"/>
      </a:dk2>
      <a:lt2>
        <a:srgbClr val="D7E1EA"/>
      </a:lt2>
      <a:accent1>
        <a:srgbClr val="0F766E"/>
      </a:accent1>
      <a:accent2>
        <a:srgbClr val="1D4ED8"/>
      </a:accent2>
      <a:accent3>
        <a:srgbClr val="F59E0B"/>
      </a:accent3>
      <a:accent4>
        <a:srgbClr val="DC2626"/>
      </a:accent4>
      <a:accent5>
        <a:srgbClr val="7C3AED"/>
      </a:accent5>
      <a:accent6>
        <a:srgbClr val="0891B2"/>
      </a:accent6>
      <a:hlink>
        <a:srgbClr val="1D4ED8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juan Finance Guid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Ajuan Finance Guide">
      <a:dk1>
        <a:srgbClr val="000000"/>
      </a:dk1>
      <a:lt1>
        <a:srgbClr val="FFFFFF"/>
      </a:lt1>
      <a:dk2>
        <a:srgbClr val="1E293B"/>
      </a:dk2>
      <a:lt2>
        <a:srgbClr val="D7E1EA"/>
      </a:lt2>
      <a:accent1>
        <a:srgbClr val="0F766E"/>
      </a:accent1>
      <a:accent2>
        <a:srgbClr val="1D4ED8"/>
      </a:accent2>
      <a:accent3>
        <a:srgbClr val="F59E0B"/>
      </a:accent3>
      <a:accent4>
        <a:srgbClr val="DC2626"/>
      </a:accent4>
      <a:accent5>
        <a:srgbClr val="7C3AED"/>
      </a:accent5>
      <a:accent6>
        <a:srgbClr val="0891B2"/>
      </a:accent6>
      <a:hlink>
        <a:srgbClr val="1D4ED8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juan Finance Guid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753</Words>
  <Application>Microsoft Office PowerPoint</Application>
  <DocSecurity>0</DocSecurity>
  <PresentationFormat>Widescreen</PresentationFormat>
  <Paragraphs>100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Julia Nurhalizah</cp:lastModifiedBy>
  <cp:revision>1</cp:revision>
  <dcterms:created xsi:type="dcterms:W3CDTF">2026-06-18T07:21:17Z</dcterms:created>
  <dcterms:modified xsi:type="dcterms:W3CDTF">2026-06-18T07:24:05Z</dcterms:modified>
</cp:coreProperties>
</file>