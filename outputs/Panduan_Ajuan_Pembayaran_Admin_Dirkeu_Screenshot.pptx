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df1beab6074df1" /><Relationship Type="http://schemas.openxmlformats.org/officeDocument/2006/relationships/extended-properties" Target="/docProps/app.xml" Id="R2c231876043d46ae" /><Relationship Type="http://schemas.openxmlformats.org/officeDocument/2006/relationships/officeDocument" Target="/ppt/presentation.xml" Id="Rf9b97e17bfd74f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2ed665ef8f4629"/>
  </p:sldMasterIdLst>
  <p:notesMasterIdLst>
    <p:notesMasterId xmlns:r="http://schemas.openxmlformats.org/officeDocument/2006/relationships" r:id="Rdf939ed0824e4ad0"/>
  </p:notesMasterIdLst>
  <p:sldIdLst>
    <p:sldId xmlns:r="http://schemas.openxmlformats.org/officeDocument/2006/relationships" id="256" r:id="Rf15f0c5fb23f4953"/>
    <p:sldId xmlns:r="http://schemas.openxmlformats.org/officeDocument/2006/relationships" id="257" r:id="Rd1d54de713214617"/>
    <p:sldId xmlns:r="http://schemas.openxmlformats.org/officeDocument/2006/relationships" id="258" r:id="R9273496db8784615"/>
    <p:sldId xmlns:r="http://schemas.openxmlformats.org/officeDocument/2006/relationships" id="259" r:id="R3d48d59ad93944ca"/>
    <p:sldId xmlns:r="http://schemas.openxmlformats.org/officeDocument/2006/relationships" id="260" r:id="R5b734782a3284502"/>
    <p:sldId xmlns:r="http://schemas.openxmlformats.org/officeDocument/2006/relationships" id="261" r:id="R0ebd171231c24db3"/>
    <p:sldId xmlns:r="http://schemas.openxmlformats.org/officeDocument/2006/relationships" id="262" r:id="R5d9312c8e3664695"/>
    <p:sldId xmlns:r="http://schemas.openxmlformats.org/officeDocument/2006/relationships" id="263" r:id="R71c1e669b563406f"/>
    <p:sldId xmlns:r="http://schemas.openxmlformats.org/officeDocument/2006/relationships" id="264" r:id="Rac6feed25cf3411c"/>
    <p:sldId xmlns:r="http://schemas.openxmlformats.org/officeDocument/2006/relationships" id="265" r:id="R6fea45c530824d0a"/>
    <p:sldId xmlns:r="http://schemas.openxmlformats.org/officeDocument/2006/relationships" id="266" r:id="R12e9bf79fd244ee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81247e6f3d4867" /><Relationship Type="http://schemas.openxmlformats.org/officeDocument/2006/relationships/slideMaster" Target="/ppt/slideMasters/slideMaster1.xml" Id="R742ed665ef8f4629" /><Relationship Type="http://schemas.openxmlformats.org/officeDocument/2006/relationships/notesMaster" Target="/ppt/notesMasters/notesMaster1.xml" Id="Rdf939ed0824e4ad0" /><Relationship Type="http://schemas.openxmlformats.org/officeDocument/2006/relationships/presProps" Target="/ppt/presProps.xml" Id="Raf56b537bd8c43b0" /><Relationship Type="http://schemas.openxmlformats.org/officeDocument/2006/relationships/tableStyles" Target="/ppt/tableStyles.xml" Id="R471030eb279e4f45" /><Relationship Type="http://schemas.openxmlformats.org/officeDocument/2006/relationships/slide" Target="/ppt/slides/slide1.xml" Id="Rf15f0c5fb23f4953" /><Relationship Type="http://schemas.openxmlformats.org/officeDocument/2006/relationships/slide" Target="/ppt/slides/slide2.xml" Id="Rd1d54de713214617" /><Relationship Type="http://schemas.openxmlformats.org/officeDocument/2006/relationships/slide" Target="/ppt/slides/slide3.xml" Id="R9273496db8784615" /><Relationship Type="http://schemas.openxmlformats.org/officeDocument/2006/relationships/slide" Target="/ppt/slides/slide4.xml" Id="R3d48d59ad93944ca" /><Relationship Type="http://schemas.openxmlformats.org/officeDocument/2006/relationships/slide" Target="/ppt/slides/slide5.xml" Id="R5b734782a3284502" /><Relationship Type="http://schemas.openxmlformats.org/officeDocument/2006/relationships/slide" Target="/ppt/slides/slide6.xml" Id="R0ebd171231c24db3" /><Relationship Type="http://schemas.openxmlformats.org/officeDocument/2006/relationships/slide" Target="/ppt/slides/slide7.xml" Id="R5d9312c8e3664695" /><Relationship Type="http://schemas.openxmlformats.org/officeDocument/2006/relationships/slide" Target="/ppt/slides/slide8.xml" Id="R71c1e669b563406f" /><Relationship Type="http://schemas.openxmlformats.org/officeDocument/2006/relationships/slide" Target="/ppt/slides/slide9.xml" Id="Rac6feed25cf3411c" /><Relationship Type="http://schemas.openxmlformats.org/officeDocument/2006/relationships/slide" Target="/ppt/slides/slide10.xml" Id="R6fea45c530824d0a" /><Relationship Type="http://schemas.openxmlformats.org/officeDocument/2006/relationships/slide" Target="/ppt/slides/slide11.xml" Id="R12e9bf79fd244e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b54917dec84e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juan Guide Screenshot">
      <a:dk1>
        <a:srgbClr val="000000"/>
      </a:dk1>
      <a:lt1>
        <a:srgbClr val="FFFFFF"/>
      </a:lt1>
      <a:dk2>
        <a:srgbClr val="1E293B"/>
      </a:dk2>
      <a:lt2>
        <a:srgbClr val="D7E1EA"/>
      </a:lt2>
      <a:accent1>
        <a:srgbClr val="0F766E"/>
      </a:accent1>
      <a:accent2>
        <a:srgbClr val="1D4ED8"/>
      </a:accent2>
      <a:accent3>
        <a:srgbClr val="F59E0B"/>
      </a:accent3>
      <a:accent4>
        <a:srgbClr val="DC2626"/>
      </a:accent4>
      <a:accent5>
        <a:srgbClr val="0891B2"/>
      </a:accent5>
      <a:accent6>
        <a:srgbClr val="8B5CF6"/>
      </a:accent6>
      <a:hlink>
        <a:srgbClr val="1D4ED8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juan Guide Screensho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9eb4d9da8143ab" /><Relationship Type="http://schemas.openxmlformats.org/officeDocument/2006/relationships/notesMaster" Target="/ppt/notesMasters/notesMaster1.xml" Id="R43df66ef499346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58bae4e6c749ec" /><Relationship Type="http://schemas.openxmlformats.org/officeDocument/2006/relationships/notesMaster" Target="/ppt/notesMasters/notesMaster1.xml" Id="Rb3be3407961549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c1c6630cee4bf1" /><Relationship Type="http://schemas.openxmlformats.org/officeDocument/2006/relationships/notesMaster" Target="/ppt/notesMasters/notesMaster1.xml" Id="R3591f7e5214e4f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227a511d454703" /><Relationship Type="http://schemas.openxmlformats.org/officeDocument/2006/relationships/notesMaster" Target="/ppt/notesMasters/notesMaster1.xml" Id="R9789238a0a3144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a3c1a8059d4b33" /><Relationship Type="http://schemas.openxmlformats.org/officeDocument/2006/relationships/notesMaster" Target="/ppt/notesMasters/notesMaster1.xml" Id="Rad41f431c38a48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2db8754da3454a" /><Relationship Type="http://schemas.openxmlformats.org/officeDocument/2006/relationships/notesMaster" Target="/ppt/notesMasters/notesMaster1.xml" Id="R5a114f4a059245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12e5e0c6804ff1" /><Relationship Type="http://schemas.openxmlformats.org/officeDocument/2006/relationships/notesMaster" Target="/ppt/notesMasters/notesMaster1.xml" Id="R7a4cb008f5c744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0dadf7235543ad" /><Relationship Type="http://schemas.openxmlformats.org/officeDocument/2006/relationships/notesMaster" Target="/ppt/notesMasters/notesMaster1.xml" Id="Rc038c081cc1f42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4c2dafc5464d8d" /><Relationship Type="http://schemas.openxmlformats.org/officeDocument/2006/relationships/notesMaster" Target="/ppt/notesMasters/notesMaster1.xml" Id="R5f7b733fe26243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055832384a4859" /><Relationship Type="http://schemas.openxmlformats.org/officeDocument/2006/relationships/notesMaster" Target="/ppt/notesMasters/notesMaster1.xml" Id="R108b6f02eea14f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3a3071647f47b0" /><Relationship Type="http://schemas.openxmlformats.org/officeDocument/2006/relationships/notesMaster" Target="/ppt/notesMasters/notesMaster1.xml" Id="Ra1839722987844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92be1b8f9647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1d4a5bba654805" /><Relationship Type="http://schemas.openxmlformats.org/officeDocument/2006/relationships/slideLayout" Target="/ppt/slideLayouts/slideLayout1.xml" Id="R37adf5df5c8241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adf5df5c8241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juan Guide Screenshot">
      <a:dk1>
        <a:srgbClr val="000000"/>
      </a:dk1>
      <a:lt1>
        <a:srgbClr val="FFFFFF"/>
      </a:lt1>
      <a:dk2>
        <a:srgbClr val="1E293B"/>
      </a:dk2>
      <a:lt2>
        <a:srgbClr val="D7E1EA"/>
      </a:lt2>
      <a:accent1>
        <a:srgbClr val="0F766E"/>
      </a:accent1>
      <a:accent2>
        <a:srgbClr val="1D4ED8"/>
      </a:accent2>
      <a:accent3>
        <a:srgbClr val="F59E0B"/>
      </a:accent3>
      <a:accent4>
        <a:srgbClr val="DC2626"/>
      </a:accent4>
      <a:accent5>
        <a:srgbClr val="0891B2"/>
      </a:accent5>
      <a:accent6>
        <a:srgbClr val="8B5CF6"/>
      </a:accent6>
      <a:hlink>
        <a:srgbClr val="1D4ED8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juan Guide Screensho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5f77f08f44e7b" /><Relationship Type="http://schemas.openxmlformats.org/officeDocument/2006/relationships/image" Target="/ppt/media/image.png" Id="R7cc4bd82d0e34b02" /><Relationship Type="http://schemas.openxmlformats.org/officeDocument/2006/relationships/notesSlide" Target="/ppt/notesSlides/notesSlide1.xml" Id="Rf393099e2d5b4f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4e3dfb8bb4dc2" /><Relationship Type="http://schemas.openxmlformats.org/officeDocument/2006/relationships/image" Target="/ppt/media/image2.png" Id="R42923e44d3504875" /><Relationship Type="http://schemas.openxmlformats.org/officeDocument/2006/relationships/notesSlide" Target="/ppt/notesSlides/notesSlide2.xml" Id="R77babde3b07b40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a5acfb29e4504" /><Relationship Type="http://schemas.openxmlformats.org/officeDocument/2006/relationships/image" Target="/ppt/media/image3.png" Id="Rc7eddc2f2744413c" /><Relationship Type="http://schemas.openxmlformats.org/officeDocument/2006/relationships/notesSlide" Target="/ppt/notesSlides/notesSlide3.xml" Id="R4fed52f4199d49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55369aac04060" /><Relationship Type="http://schemas.openxmlformats.org/officeDocument/2006/relationships/image" Target="/ppt/media/image4.png" Id="R2012c1f80b04421f" /><Relationship Type="http://schemas.openxmlformats.org/officeDocument/2006/relationships/notesSlide" Target="/ppt/notesSlides/notesSlide4.xml" Id="R81f402c210f947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ad9fa4b2d4791" /><Relationship Type="http://schemas.openxmlformats.org/officeDocument/2006/relationships/image" Target="/ppt/media/image5.png" Id="R3b1e0a4963fa4b5c" /><Relationship Type="http://schemas.openxmlformats.org/officeDocument/2006/relationships/notesSlide" Target="/ppt/notesSlides/notesSlide5.xml" Id="Re87969b664794f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f4c24e7eb40c5" /><Relationship Type="http://schemas.openxmlformats.org/officeDocument/2006/relationships/image" Target="/ppt/media/image6.png" Id="Rd0501f9cf5a64351" /><Relationship Type="http://schemas.openxmlformats.org/officeDocument/2006/relationships/notesSlide" Target="/ppt/notesSlides/notesSlide6.xml" Id="R96443eb22a8f41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d66fc20754654" /><Relationship Type="http://schemas.openxmlformats.org/officeDocument/2006/relationships/image" Target="/ppt/media/image7.png" Id="R75129bb878e6453b" /><Relationship Type="http://schemas.openxmlformats.org/officeDocument/2006/relationships/notesSlide" Target="/ppt/notesSlides/notesSlide7.xml" Id="R3af2a0cec73a46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21ef09893413a" /><Relationship Type="http://schemas.openxmlformats.org/officeDocument/2006/relationships/image" Target="/ppt/media/image8.png" Id="R642a0d663a3e4505" /><Relationship Type="http://schemas.openxmlformats.org/officeDocument/2006/relationships/notesSlide" Target="/ppt/notesSlides/notesSlide8.xml" Id="R9ff0794c4fa147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60456a4e84ba9" /><Relationship Type="http://schemas.openxmlformats.org/officeDocument/2006/relationships/image" Target="/ppt/media/image9.png" Id="Rb50d9367a61343e6" /><Relationship Type="http://schemas.openxmlformats.org/officeDocument/2006/relationships/notesSlide" Target="/ppt/notesSlides/notesSlide9.xml" Id="Read1d875a7f64c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af8ed5ba74cb1" /><Relationship Type="http://schemas.openxmlformats.org/officeDocument/2006/relationships/image" Target="/ppt/media/image10.png" Id="R2d0223c4f62e4720" /><Relationship Type="http://schemas.openxmlformats.org/officeDocument/2006/relationships/notesSlide" Target="/ppt/notesSlides/notesSlide10.xml" Id="Re9be2bb1be064e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543fe2332475a" /><Relationship Type="http://schemas.openxmlformats.org/officeDocument/2006/relationships/notesSlide" Target="/ppt/notesSlides/notesSlide11.xml" Id="R5551d8a232554e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3F57DC-DE8C-4FFF-9379-39B50821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Panduan Lengkap</a:t>
            </a:r>
          </a:p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Ajuan Pembayaran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FC76B-40CE-44E6-B7FC-953FA4D3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Tutorial user Admin dan Dirkeu</a:t>
            </a:r>
          </a:p>
          <a:p xmlns:a="http://schemas.openxmlformats.org/drawingml/2006/main">
            <a:pPr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dengan screenshot web terbaru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585F8-C898-423B-8BC4-3A477864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0005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B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E3682-EAAC-4641-A713-9925891A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Akun Login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27B0F-931A-472E-B9D4-BF46A847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A546F-8EB8-489D-879E-7C0EBC9E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718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Admin: finance / keuangannf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6C2DA-E78D-4417-84B6-8A80E45A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62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53811-2E0B-48B1-B5F0-7DC806D0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95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Dirkeu: dirkeu / direkturkeuangan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ADC96-8B1D-479D-B6FB-98D5976B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86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D982E-8E8D-446A-8271-3EAACB3C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19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Akses sesuai role masing-masing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c4bd82d0e34b02"/>
          <a:stretch xmlns:a="http://schemas.openxmlformats.org/drawingml/2006/main"/>
        </p:blipFill>
        <p:spPr>
          <a:xfrm xmlns:a="http://schemas.openxmlformats.org/drawingml/2006/main">
            <a:off x="5334000" y="1371600"/>
            <a:ext cx="6172200" cy="41148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A24FE-FBD9-49F2-90EB-901CF95E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Panduan Ajuan Pembayaran Screenshot • Slide 1</a:t>
            </a:r>
          </a:p>
        </p:txBody>
      </p:sp>
    </p:spTree>
    <p:extLst>
      <p:ext uri="{BB962C8B-B14F-4D97-AF65-F5344CB8AC3E}">
        <p14:creationId xmlns:p14="http://schemas.microsoft.com/office/powerpoint/2010/main" val="16730981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8066D3-E6A5-4024-825B-785E4CA4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MULAI DARI LOGIN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BDF94-1BF0-475E-9C0C-3133221E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1. Cara Masuk ke Aplikasi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859BF-7267-4500-8082-9BA3731E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Login cukup sekali sesuai role. Centang opsi ingat login bila ingin tetap masuk di perangkat yang sama.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D2B56-F0E8-42C7-BAFF-CD1BD784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095750" cy="430530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6C8DB-A113-4B33-82A0-C6DBFF37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Langkah Login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39929-9861-40CF-8B93-95C33F20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24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11893-7FA1-403D-B1AD-100E19CD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574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Buka URL aplikasi Ajuan Pembayaran.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B83F4-A481-4713-A405-B1941C29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4926E-DC51-4651-8D76-BC388B90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146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Masukkan username dan password sesuai role.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4C220-5ACF-4E38-BECB-0659A560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347B0B-2F48-4603-A25B-30BA5E1F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7185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Centang 'ingat login saya 30 hari' jika diperlukan.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66C5A-E3F1-4114-AA06-55F6D40E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95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1B217D-E0DD-46D5-9630-C8DE9296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290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Klik tombol Masuk.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5384B2-F22C-446C-BE82-EA56B66C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9B50C2-1802-44FC-BC18-9161C2C1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862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Jika menu tidak sesuai, logout lalu login ulang dengan akun yang benar.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8F6385-D63E-4D50-AC8B-52C7A9D6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10820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6F3"/>
          </a:solidFill>
          <a:ln xmlns:a="http://schemas.openxmlformats.org/drawingml/2006/main" w="9525">
            <a:solidFill>
              <a:srgbClr val="B7E4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699B43-9B9D-42B2-BF99-3C39A210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19825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Admin dan Dirkeu menggunakan halaman login yang sama, tetapi menu setelah login akan berbeda sesuai role.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23e44d3504875"/>
          <a:stretch xmlns:a="http://schemas.openxmlformats.org/drawingml/2006/main"/>
        </p:blipFill>
        <p:spPr>
          <a:xfrm xmlns:a="http://schemas.openxmlformats.org/drawingml/2006/main">
            <a:off x="5143500" y="1936750"/>
            <a:ext cx="5905500" cy="3937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AB5335-93E0-4CCE-9934-2F2CA24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Panduan Ajuan Pembayaran • Slide 2</a:t>
            </a:r>
          </a:p>
        </p:txBody>
      </p:sp>
    </p:spTree>
    <p:extLst>
      <p:ext uri="{BB962C8B-B14F-4D97-AF65-F5344CB8AC3E}">
        <p14:creationId xmlns:p14="http://schemas.microsoft.com/office/powerpoint/2010/main" val="6449267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FCB157-0AC6-4656-B3DD-D6AF8D1E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ROLE 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54A4C-47F5-4181-944C-DD397A48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2. Menu Utama Admin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69796-2E6B-4F55-ACA4-9C04C886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Admin berfokus pada input ajuan, monitoring dashboard, import sheet, dan upload LPJ.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eddc2f2744413c"/>
          <a:stretch xmlns:a="http://schemas.openxmlformats.org/drawingml/2006/main"/>
        </p:blipFill>
        <p:spPr>
          <a:xfrm xmlns:a="http://schemas.openxmlformats.org/drawingml/2006/main">
            <a:off x="790575" y="1714500"/>
            <a:ext cx="6457950" cy="4305300"/>
          </a:xfrm>
          <a:prstGeom xmlns:a="http://schemas.openxmlformats.org/drawingml/2006/main" prst="roundRect">
            <a:avLst>
              <a:gd name="adj" fmla="val 354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0B91E-7593-4A30-B826-49A27151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3790950" cy="4305300"/>
          </a:xfrm>
          <a:prstGeom xmlns:a="http://schemas.openxmlformats.org/drawingml/2006/main" prst="roundRect">
            <a:avLst>
              <a:gd name="adj" fmla="val 4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FE7D0-3DF1-4B03-98C5-F754A8D1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19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Yang Perlu Diperhatikan Admin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64C7B-754C-45C9-915A-74B90512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80782-5BA4-4030-8465-435856DE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Dashboard menampilkan total ajuan, menunggu review, LPJ, dan realisasi.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D09FCB-16CF-4E42-9741-7B25795B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71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A8064-1389-4752-8A78-16625117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051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Menu Input Ajuan dipakai untuk membuat data baru.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76F44-CA53-4412-A069-5D666CC6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1670E-0583-410D-9323-A0ABEFF7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623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Import Sheet dipakai jika ingin memasukkan data massal dari Excel/CSV.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59FDDB-1F6C-469B-8840-BB3E11D4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86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B2CAD8-1FD3-4497-B9E7-A23BE356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195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LPJ dipakai untuk upload pertanggungjawaban dan isi realisasi dana.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9D5383-B8FC-4C50-8AF5-2445CA1B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B0553D-4A56-4AEB-B7EA-F535D784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76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Logout tersedia di kanan atas.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660821-6EE6-4EEF-859D-AEF63023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Panduan Ajuan Pembayaran • Slide 3</a:t>
            </a:r>
          </a:p>
        </p:txBody>
      </p:sp>
    </p:spTree>
    <p:extLst>
      <p:ext uri="{BB962C8B-B14F-4D97-AF65-F5344CB8AC3E}">
        <p14:creationId xmlns:p14="http://schemas.microsoft.com/office/powerpoint/2010/main" val="17148240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6C5864-6590-49CE-965D-E4334D84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ADMIN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6BD05-CD23-4A4E-B487-80F09C5A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3. Cara Input Ajuan Baru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783F6-4B91-4D29-9134-5761FEBB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Isi data inti dulu, lalu lengkapi LPJ dan lampiran memo jika diperlukan.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2c1f80b04421f"/>
          <a:stretch xmlns:a="http://schemas.openxmlformats.org/drawingml/2006/main"/>
        </p:blipFill>
        <p:spPr>
          <a:xfrm xmlns:a="http://schemas.openxmlformats.org/drawingml/2006/main">
            <a:off x="947738" y="1695450"/>
            <a:ext cx="6715125" cy="4476750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162D3-778C-4A1A-B6A6-C9AB29A5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314700" cy="44767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4E3F4-1F1B-4521-9FC7-14765040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00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Checklist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50570-9BA2-4069-BA3D-C7E08280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43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071C7-6CCD-4226-B244-96227DC8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765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Isi Tanggal Ajuan dan Nama Pengaju.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D8D9B-0B04-4AEC-8196-AB13338C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00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D41D2-1256-4CDC-91C5-68DADD9B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337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Pisahkan Atas Nama Rekening, Bank, dan Nomor Rekening.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428179-4270-4A2A-8535-B04D4DEE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57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0CFC04-A08B-4798-B079-CF481C96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909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Nominal otomatis mengikuti format rupiah.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1B86C7-C181-430B-A13D-A030246F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D09542-FE88-41BE-AA26-2B028362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4810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Upload memo bisa lebih dari satu file bila memo terdiri dari beberapa halaman.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8B2E47-D03D-47FC-A2DA-7F64376A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7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92804E-5E87-4403-9FC0-C70CDBFF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053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Ajuan baru tersimpan sebagai draft lalu diajukan ke Dirkeu setelah dicek admin.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3F4CC9-4BC5-46A2-83AA-C128E320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Panduan Ajuan Pembayaran • Slide 4</a:t>
            </a:r>
          </a:p>
        </p:txBody>
      </p:sp>
    </p:spTree>
    <p:extLst>
      <p:ext uri="{BB962C8B-B14F-4D97-AF65-F5344CB8AC3E}">
        <p14:creationId xmlns:p14="http://schemas.microsoft.com/office/powerpoint/2010/main" val="10609320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580310-4DCA-4121-840D-89D65096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MONITORING 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8A31A-9D46-4194-A433-D55F04E2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4. Cek Ajuan, Filter, Edit, dan Export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EE4C7-D437-4A99-B45B-C97A5BE2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Menu Dashboard / Cek Ajuan dipakai untuk memantau seluruh status dan tindak lanjut.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e0a4963fa4b5c"/>
          <a:stretch xmlns:a="http://schemas.openxmlformats.org/drawingml/2006/main"/>
        </p:blipFill>
        <p:spPr>
          <a:xfrm xmlns:a="http://schemas.openxmlformats.org/drawingml/2006/main">
            <a:off x="757238" y="1676400"/>
            <a:ext cx="6715125" cy="4476750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797D5-FDF9-4EBD-BFF4-2437F654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76400"/>
            <a:ext cx="3676650" cy="4476750"/>
          </a:xfrm>
          <a:prstGeom xmlns:a="http://schemas.openxmlformats.org/drawingml/2006/main" prst="roundRect">
            <a:avLst>
              <a:gd name="adj" fmla="val 4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E6C1BA-5AE5-4997-9838-1C1DF96E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812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D8"/>
                </a:solidFill>
              </a:defRPr>
            </a:pPr>
            <a:r>
              <a:rPr sz="1800" b="1">
                <a:solidFill>
                  <a:srgbClr val="1D4ED8"/>
                </a:solidFill>
              </a:rPr>
              <a:t>Fungsi Utama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969EC-D133-427A-BE1B-CF13F54B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05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E95AC-DC84-41C6-944A-1527CD1A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384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Lihat KPI total ajuan, review Dirkeu, LPJ, dan realisasi.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7837C-EC0E-403B-8E3D-1221F335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62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F38D4-FFB6-43A2-B321-68C59DBE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956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Gunakan search, filter, dan urutan untuk mempercepat pencarian.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7BAE3-E9E7-4EDF-A2D2-B0C4D8D4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9FC7C-27AD-45C6-ADC7-DC0B91A8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528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Buka detail memo dan edit ajuan bila ada revisi.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269301-0D56-4E2F-82F6-D11796C1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76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9CE584-11FA-466A-8AF9-2EA4656F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100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Gunakan Export Excel untuk rekap data yang sudah difilter.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8B48D5-6558-4233-92D5-6E68BA76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33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1F8E7C-01AF-46E2-BF0B-4AF43A43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672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Status Dirkeu dan status bayar bisa dipantau dalam satu layar.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4CB052-18E5-4F6F-A996-94E677F4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Panduan Ajuan Pembayaran • Slide 5</a:t>
            </a:r>
          </a:p>
        </p:txBody>
      </p:sp>
    </p:spTree>
    <p:extLst>
      <p:ext uri="{BB962C8B-B14F-4D97-AF65-F5344CB8AC3E}">
        <p14:creationId xmlns:p14="http://schemas.microsoft.com/office/powerpoint/2010/main" val="15219760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6ABE20-E08E-41AA-B038-41D815C0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LPJ &amp; REALISASI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E0F12-41EC-47F7-A7AC-D75A392A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5. Upload LPJ dan Isi Total Dana Digunakan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447BB-B2E6-49D0-A0D5-683894C2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Admin tetap menangani LPJ agar surplus, defisit, atau sesuai bisa dihitung otomatis.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501f9cf5a64351"/>
          <a:stretch xmlns:a="http://schemas.openxmlformats.org/drawingml/2006/main"/>
        </p:blipFill>
        <p:spPr>
          <a:xfrm xmlns:a="http://schemas.openxmlformats.org/drawingml/2006/main">
            <a:off x="1209675" y="1790700"/>
            <a:ext cx="6000750" cy="40005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2B734-1457-40D2-B2C3-555802D0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90700"/>
            <a:ext cx="3486150" cy="4000500"/>
          </a:xfrm>
          <a:prstGeom xmlns:a="http://schemas.openxmlformats.org/drawingml/2006/main" prst="roundRect">
            <a:avLst>
              <a:gd name="adj" fmla="val 4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FFBD7-C95F-4F23-8335-47ADDA30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Langkah Upload LPJ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9D9FE-BD5E-4291-8C13-20082340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00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0F858-82FA-444E-AE76-F0826471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336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Cari ID ajuan dengan kotak pencarian agar lebih cepat.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9EDF0-62A9-4C7A-991F-E078392A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57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36844-A9E2-4742-B0BA-B1527EAA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908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Isi Total Dana Digunakan sesuai realisasi akhir.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A236E3-9338-4844-B197-922424A3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14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322AE4-AC95-4709-8078-0511DCAA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480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Upload file LPJ JPG, PNG, atau PDF maksimal 10 MB.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B6164-1D2B-4235-8707-C46A15C1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71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E009B7-9BC1-4216-81B9-979EA91F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052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Klik Upload LPJ untuk menyimpan file dan realisasi.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6CFE2D-19B7-4E4B-B930-1CE50779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29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17F6F6-6897-4A84-B4E2-2411D50F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624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Dashboard akan menghitung selisih dan status dana otomatis.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840850-A7D7-47B1-99B8-62D5E459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Panduan Ajuan Pembayaran • Slide 6</a:t>
            </a:r>
          </a:p>
        </p:txBody>
      </p:sp>
    </p:spTree>
    <p:extLst>
      <p:ext uri="{BB962C8B-B14F-4D97-AF65-F5344CB8AC3E}">
        <p14:creationId xmlns:p14="http://schemas.microsoft.com/office/powerpoint/2010/main" val="8860225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CAD528-AB2B-4E10-87E6-07EF4B73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ROLE DIRKEU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1C38F-1FCC-4DF5-8F84-8BFAC60F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6. Menu Utama Dirkeu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4D373-3265-4C58-83A4-43F8ED23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Dirkeu berfokus pada review ajuan dan pelengkapan bukti transfer.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7930E-684A-4323-B800-FE6292F1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390900" cy="42291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2274F-A98D-477A-9FC5-2E6935E1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38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Hak Akses Dirkeu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44023-9406-4FB2-BF23-DCC5199F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62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790D6-8AE6-43E4-B6F6-459BA6F9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955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Menu Review Dirkeu untuk memutuskan ajuan.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2D22DE-CFCC-4591-B003-0121B5C2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19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590B4-629B-4A6F-BF3A-D81BA320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527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Menu Bukti TF untuk melengkapi file transfer atau menandai tanpa bukti.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5906B-7106-4B2B-A79C-805328D0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5F579-33E3-47E7-A5F8-8478197D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Dirkeu tidak menginput ajuan baru dan tidak mengupload LPJ.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735478-D802-4816-8851-9EC41768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33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E8AE0-F975-4283-AF90-E93C1B6B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671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Setelah approve, ajuan otomatis dianggap sudah dibayar.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129bb878e6453b"/>
          <a:stretch xmlns:a="http://schemas.openxmlformats.org/drawingml/2006/main"/>
        </p:blipFill>
        <p:spPr>
          <a:xfrm xmlns:a="http://schemas.openxmlformats.org/drawingml/2006/main">
            <a:off x="4781550" y="1733550"/>
            <a:ext cx="6343650" cy="4229100"/>
          </a:xfrm>
          <a:prstGeom xmlns:a="http://schemas.openxmlformats.org/drawingml/2006/main" prst="roundRect">
            <a:avLst>
              <a:gd name="adj" fmla="val 3604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81255C-BB8B-491A-9E16-08B5D124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Panduan Ajuan Pembayaran • Slide 7</a:t>
            </a:r>
          </a:p>
        </p:txBody>
      </p:sp>
    </p:spTree>
    <p:extLst>
      <p:ext uri="{BB962C8B-B14F-4D97-AF65-F5344CB8AC3E}">
        <p14:creationId xmlns:p14="http://schemas.microsoft.com/office/powerpoint/2010/main" val="20313027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D8FF1F-EB0A-45A4-B323-9B450501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REVIEW DIRKEU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BD45F-6594-4D7A-94DE-730B2C9B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7. Filter Status Review Dirkeu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3AFA3-D116-4825-A3B6-028E06BF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Kartu status pada halaman Review Dirkeu sekarang bisa diklik untuk memfilter daftar di bawahnya.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a0d663a3e4505"/>
          <a:stretch xmlns:a="http://schemas.openxmlformats.org/drawingml/2006/main"/>
        </p:blipFill>
        <p:spPr>
          <a:xfrm xmlns:a="http://schemas.openxmlformats.org/drawingml/2006/main">
            <a:off x="1033463" y="1695450"/>
            <a:ext cx="6543675" cy="4362450"/>
          </a:xfrm>
          <a:prstGeom xmlns:a="http://schemas.openxmlformats.org/drawingml/2006/main" prst="roundRect">
            <a:avLst>
              <a:gd name="adj" fmla="val 349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E9D5BC-E79E-4B40-9883-D75D7F48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314700" cy="43624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F6B2F-8B10-4C94-BE92-4650954B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00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Cara Pakai Kartu 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04133-08A3-4B85-9624-7F90CBE7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24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19002-CF2D-4969-9923-F9F6C156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Klik Menunggu Review untuk fokus ke ajuan yang belum diputuskan.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B153A4-3DEB-4E6A-81E5-744439D4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0A42B-7521-4189-A413-86EF2C85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14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Klik Perlu Revisi untuk melihat ajuan yang dikembalikan ke admin.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F70018-B45D-49B3-932C-E076B1FC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A9186-B0DC-437B-BA21-1E2D962F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718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Klik Ditolak untuk histori ajuan yang sudah ditutup.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3166D7-4B57-40BC-88F0-79A85C42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95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47DC2-384E-4CB1-9100-AB68395B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290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Klik Disetujui untuk melihat ajuan yang sudah dibayar oleh Dirkeu.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CB18D-E6D6-4609-900F-E712AC8E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5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60B3AA-AFD5-4206-A882-719B54B6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862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Filter keyword, tahun, dan cabang tetap bisa dipakai bersamaan.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8AFD65-333E-4F58-8988-5982AC79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Panduan Ajuan Pembayaran • Slide 8</a:t>
            </a:r>
          </a:p>
        </p:txBody>
      </p:sp>
    </p:spTree>
    <p:extLst>
      <p:ext uri="{BB962C8B-B14F-4D97-AF65-F5344CB8AC3E}">
        <p14:creationId xmlns:p14="http://schemas.microsoft.com/office/powerpoint/2010/main" val="16193831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FA705C-9407-43C8-983B-7EC4B229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DETAIL KEPUTUSAN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45B4C-A672-4176-BDE5-437D4581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8. Buka Detail Ajuan dan Beri Keputusan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765CA-A229-4713-A315-73D06DE1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Di halaman detail, Dirkeu dapat mengecek data rekening, nominal, memo, dan status pembayaran.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d9367a61343e6"/>
          <a:stretch xmlns:a="http://schemas.openxmlformats.org/drawingml/2006/main"/>
        </p:blipFill>
        <p:spPr>
          <a:xfrm xmlns:a="http://schemas.openxmlformats.org/drawingml/2006/main">
            <a:off x="1014413" y="1695450"/>
            <a:ext cx="6543675" cy="4362450"/>
          </a:xfrm>
          <a:prstGeom xmlns:a="http://schemas.openxmlformats.org/drawingml/2006/main" prst="roundRect">
            <a:avLst>
              <a:gd name="adj" fmla="val 349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04215-17CD-48D0-952A-0FA713AB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95450"/>
            <a:ext cx="3352800" cy="43624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79A90-2B99-44DE-A9B6-8B38CB6A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00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D8"/>
                </a:solidFill>
              </a:defRPr>
            </a:pPr>
            <a:r>
              <a:rPr sz="1800" b="1">
                <a:solidFill>
                  <a:srgbClr val="1D4ED8"/>
                </a:solidFill>
              </a:rPr>
              <a:t>Aksi di Halaman Detail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9056D-EA0B-4238-95CD-7EA58D05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24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2ECE0-326A-48B5-89A6-C92A477F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574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Cek tanggal ajuan, cabang, nama pengaju, rekening, bank, dan nominal.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FC1250-27A6-4166-B474-3265A363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98171-0151-495A-8314-602F2ACA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Buka memo jika perlu verifikasi dokumen pengajuan.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CC81A-02B3-4BDF-9C91-B1F18BC7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1F3FD-C36C-4667-8623-FB9C88E3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718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Jika status masih review aktif, pilih Setujui, Tolak, atau Minta Revisi.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820C77-75D2-413D-82F0-3D0E609C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95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50468-20DB-447D-964F-7136084A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290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Catatan review akan terlihat kembali oleh admin.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E2DDBF-6532-4BAA-A114-05E5DC18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5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4E6821-7AEB-4DC4-8A74-FF4F65C9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Approve sekarang berarti ajuan langsung dianggap dibayar.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21D732-A461-40C6-8663-FF656B57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Panduan Ajuan Pembayaran • Slide 9</a:t>
            </a:r>
          </a:p>
        </p:txBody>
      </p:sp>
    </p:spTree>
    <p:extLst>
      <p:ext uri="{BB962C8B-B14F-4D97-AF65-F5344CB8AC3E}">
        <p14:creationId xmlns:p14="http://schemas.microsoft.com/office/powerpoint/2010/main" val="14611306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9D3B55-7601-4F67-9948-7E5F140B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BUKTI TF OPSIONAL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D4D18-61A0-4C54-BA68-7E8B9254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9. Upload Bukti TF atau Tanpa Bukti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BB926-93F7-467F-8C8F-5ED63F83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Halaman ini khusus Dirkeu untuk melengkapi pembayaran setelah approve.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223c4f62e4720"/>
          <a:stretch xmlns:a="http://schemas.openxmlformats.org/drawingml/2006/main"/>
        </p:blipFill>
        <p:spPr>
          <a:xfrm xmlns:a="http://schemas.openxmlformats.org/drawingml/2006/main">
            <a:off x="1033463" y="1695450"/>
            <a:ext cx="6543675" cy="4362450"/>
          </a:xfrm>
          <a:prstGeom xmlns:a="http://schemas.openxmlformats.org/drawingml/2006/main" prst="roundRect">
            <a:avLst>
              <a:gd name="adj" fmla="val 349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6315C-2092-47DB-8359-7A63BE5A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314700" cy="43624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1CD8E7-E3B7-4030-BCAC-5083BE88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00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Pilihan yang Tersedia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10FEC-AE22-48CA-9D7E-E7844DD5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24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08DA6-72BC-4932-AFAC-3116156E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Upload Bukti TF bila ada file transfer yang perlu dilampirkan.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5F1AC-9D03-470D-BE54-0BBE6785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B8165-9D5B-48BE-A12D-67B928E7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146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Gunakan Tandai Tanpa Bukti TF bila memang tidak ada lampiran.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E4BBAE-B87E-40D3-B92A-A4547C93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73103-298D-4048-AC69-90CB2BA1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7185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Admin bisa melihat update ini di dashboard Cek Ajuan.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74C65B-BC55-4100-8062-9217963A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95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70B0EB-AC4F-419D-BA37-F2148107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2905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Status akhir: Selesai Dibayar atau Dibayar Tanpa Bukti TF.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205A1-9030-415E-B380-0F21C1B9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Panduan Ajuan Pembayaran • Slide 10</a:t>
            </a:r>
          </a:p>
        </p:txBody>
      </p:sp>
    </p:spTree>
    <p:extLst>
      <p:ext uri="{BB962C8B-B14F-4D97-AF65-F5344CB8AC3E}">
        <p14:creationId xmlns:p14="http://schemas.microsoft.com/office/powerpoint/2010/main" val="2496121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876018-9F39-4F3D-AE9D-6C3E998F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RINGKASAN ALUR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8D9C3-8F1B-4CB7-9115-B7F14008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10. Alur Lengkap dan Troubleshooting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4A692-F4D2-4EB1-A677-89235B09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Satu slide penutup untuk memastikan user cepat paham siapa mengerjakan apa.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E49AB-8200-46E3-8194-097F558A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1435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E0CDB-433E-4CC9-97A3-100643AA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Alur Kerja Singkat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4126C-E057-4E88-B7B2-856F764D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05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69465-DABB-476D-A76A-38CF3A10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384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Admin login, input ajuan, lalu simpan draft.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84A54-DBEE-4ABA-A6BB-59028886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62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FD3B85-8745-4D46-9BC7-67F15A91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956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Admin cek ulang lalu ajukan ke Dirkeu.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87447D-62B2-47B6-BDAE-E99EF725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693DE-3C65-4A31-B1A4-4090957C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528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Dirkeu review lalu pilih setujui, tolak, atau minta revisi.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19515E-D865-4CD6-99AC-BD1E7BD6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76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CE1BB9-07EF-4BDE-9F8E-DE1345E8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Jika disetujui, ajuan langsung dianggap dibayar.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B8675E-D236-49DC-AA9A-900CB50E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33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BD9CB2-9A89-46CF-B77C-FB82EB2E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672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Dirkeu dapat melengkapi bukti TF atau tanpa bukti.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6E8596-F5E5-4950-92D3-EFFB1B67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91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15CAA4-596A-41C1-90A4-E98A0C86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Admin upload LPJ dan isi realisasi bila wajib LPJ.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7EBBAE-A862-4E7D-9A1C-BFDAB49D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76400"/>
            <a:ext cx="52959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C2D391-BB69-47F7-8581-0FE88AF4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C2626"/>
                </a:solidFill>
              </a:defRPr>
            </a:pPr>
            <a:r>
              <a:rPr sz="1800" b="1">
                <a:solidFill>
                  <a:srgbClr val="DC2626"/>
                </a:solidFill>
              </a:rPr>
              <a:t>Troubleshooting Cepat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9CA3D9-45F9-417A-8DC0-DB3D2554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05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1136B2-F662-4129-85BF-0769A7E6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3840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Menu tidak sesuai role: logout lalu login ulang.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67B81A-0D60-4AA3-8DD5-7D75A22E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62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B85BD2-BC55-4E58-AA6B-C82DF5AA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95600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Ajuan tidak muncul di review: cek apakah admin sudah ajukan ke Dirkeu.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8124D6-313F-4AFC-B8DF-55AD493C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0E19CC-8DA8-4F38-8568-138D6033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52800"/>
            <a:ext cx="381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Status sudah approve tapi belum ada bukti: buka menu Bukti TF untuk melengkapi lampiran.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0B8C9E-9A2B-4B45-94B4-314C86D7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76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48A79F-E575-48FD-B803-F4201DA5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10000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Perlu cek banyak data: gunakan filter, search, sort, dan export Excel.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EFFB64-9BF9-4F93-8914-1B30EFD3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44F915-90CB-4427-B615-987432A2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38850"/>
            <a:ext cx="981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Panduan ini bisa langsung dibagikan ke Admin dan Dirkeu sebagai panduan operasional harian.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46B753-8029-4E1B-9269-7B1B7A6F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Panduan Ajuan Pembayaran • Slide 11</a:t>
            </a:r>
          </a:p>
        </p:txBody>
      </p:sp>
    </p:spTree>
    <p:extLst>
      <p:ext uri="{BB962C8B-B14F-4D97-AF65-F5344CB8AC3E}">
        <p14:creationId xmlns:p14="http://schemas.microsoft.com/office/powerpoint/2010/main" val="2029079361"/>
      </p:ext>
    </p:extLst>
  </p:cSld>
</p:sld>
</file>

<file path=ppt/theme/theme1.xml><?xml version="1.0" encoding="utf-8"?>
<a:theme xmlns:a="http://schemas.openxmlformats.org/drawingml/2006/main" name="ChatGPT">
  <a:themeElements>
    <a:clrScheme name="Ajuan Guide Screenshot">
      <a:dk1>
        <a:srgbClr val="000000"/>
      </a:dk1>
      <a:lt1>
        <a:srgbClr val="FFFFFF"/>
      </a:lt1>
      <a:dk2>
        <a:srgbClr val="1E293B"/>
      </a:dk2>
      <a:lt2>
        <a:srgbClr val="D7E1EA"/>
      </a:lt2>
      <a:accent1>
        <a:srgbClr val="0F766E"/>
      </a:accent1>
      <a:accent2>
        <a:srgbClr val="1D4ED8"/>
      </a:accent2>
      <a:accent3>
        <a:srgbClr val="F59E0B"/>
      </a:accent3>
      <a:accent4>
        <a:srgbClr val="DC2626"/>
      </a:accent4>
      <a:accent5>
        <a:srgbClr val="0891B2"/>
      </a:accent5>
      <a:accent6>
        <a:srgbClr val="8B5CF6"/>
      </a:accent6>
      <a:hlink>
        <a:srgbClr val="1D4ED8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juan Guide Screensho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2026-06-18T08:07:56.4570000Z</dcterms:created>
  <dcterms:modified xsi:type="dcterms:W3CDTF">2026-06-18T08:07:56.4570000Z</dcterms:modified>
</coreProperties>
</file>